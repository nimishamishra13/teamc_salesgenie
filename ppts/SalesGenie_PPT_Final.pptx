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17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9.svg" ContentType="image/svg+xml"/>
  <Override PartName="/ppt/media/image36.svg" ContentType="image/svg+xml"/>
  <Override PartName="/ppt/media/image39.svg" ContentType="image/svg+xml"/>
  <Override PartName="/ppt/media/image4.svg" ContentType="image/svg+xml"/>
  <Override PartName="/ppt/media/image41.svg" ContentType="image/svg+xml"/>
  <Override PartName="/ppt/media/image43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6" r:id="rId12"/>
    <p:sldId id="264" r:id="rId13"/>
    <p:sldId id="267" r:id="rId14"/>
    <p:sldId id="268" r:id="rId15"/>
    <p:sldId id="269" r:id="rId16"/>
    <p:sldId id="270" r:id="rId17"/>
    <p:sldId id="265" r:id="rId18"/>
    <p:sldId id="271" r:id="rId19"/>
  </p:sldIdLst>
  <p:sldSz cx="12191365" cy="6858000"/>
  <p:notesSz cx="6858000" cy="12191365"/>
  <p:embeddedFontLst>
    <p:embeddedFont>
      <p:font typeface="Book Antiqua" panose="02040602050305030304" charset="0"/>
      <p:regular r:id="rId23"/>
      <p:bold r:id="rId24"/>
      <p:italic r:id="rId25"/>
      <p:boldItalic r:id="rId26"/>
    </p:embeddedFont>
    <p:embeddedFont>
      <p:font typeface="Heebo" pitchFamily="34" charset="0"/>
      <p:regular r:id="rId27"/>
    </p:embeddedFont>
    <p:embeddedFont>
      <p:font typeface="Heebo" pitchFamily="34" charset="-122"/>
      <p:regular r:id="rId28"/>
    </p:embeddedFont>
    <p:embeddedFont>
      <p:font typeface="Heebo" pitchFamily="34" charset="-120"/>
      <p:regular r:id="rId29"/>
    </p:embeddedFont>
    <p:embeddedFont>
      <p:font typeface="Crimson Pro SemiBold" pitchFamily="34" charset="0"/>
      <p:bold r:id="rId30"/>
    </p:embeddedFont>
    <p:embeddedFont>
      <p:font typeface="Crimson Pro SemiBold" pitchFamily="34" charset="-122"/>
      <p:bold r:id="rId31"/>
    </p:embeddedFont>
    <p:embeddedFont>
      <p:font typeface="Crimson Pro SemiBold" pitchFamily="34" charset="-120"/>
      <p:bold r:id="rId32"/>
    </p:embeddedFont>
    <p:embeddedFont>
      <p:font typeface="Heebo Bold" pitchFamily="34" charset="0"/>
      <p:bold r:id="rId33"/>
    </p:embeddedFont>
    <p:embeddedFont>
      <p:font typeface="Heebo Bold" pitchFamily="34" charset="-122"/>
      <p:bold r:id="rId34"/>
    </p:embeddedFont>
    <p:embeddedFont>
      <p:font typeface="Heebo Bold" pitchFamily="34" charset="-120"/>
      <p:bold r:id="rId35"/>
    </p:embeddedFont>
    <p:embeddedFont>
      <p:font typeface="Calibri" panose="020F0502020204030204" charset="0"/>
      <p:regular r:id="rId36"/>
      <p:bold r:id="rId37"/>
      <p:italic r:id="rId38"/>
      <p:boldItalic r:id="rId3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9" Type="http://schemas.openxmlformats.org/officeDocument/2006/relationships/font" Target="fonts/font17.fntdata"/><Relationship Id="rId38" Type="http://schemas.openxmlformats.org/officeDocument/2006/relationships/font" Target="fonts/font16.fntdata"/><Relationship Id="rId37" Type="http://schemas.openxmlformats.org/officeDocument/2006/relationships/font" Target="fonts/font15.fntdata"/><Relationship Id="rId36" Type="http://schemas.openxmlformats.org/officeDocument/2006/relationships/font" Target="fonts/font14.fntdata"/><Relationship Id="rId35" Type="http://schemas.openxmlformats.org/officeDocument/2006/relationships/font" Target="fonts/font13.fntdata"/><Relationship Id="rId34" Type="http://schemas.openxmlformats.org/officeDocument/2006/relationships/font" Target="fonts/font12.fntdata"/><Relationship Id="rId33" Type="http://schemas.openxmlformats.org/officeDocument/2006/relationships/font" Target="fonts/font11.fntdata"/><Relationship Id="rId32" Type="http://schemas.openxmlformats.org/officeDocument/2006/relationships/font" Target="fonts/font10.fntdata"/><Relationship Id="rId31" Type="http://schemas.openxmlformats.org/officeDocument/2006/relationships/font" Target="fonts/font9.fntdata"/><Relationship Id="rId30" Type="http://schemas.openxmlformats.org/officeDocument/2006/relationships/font" Target="fonts/font8.fntdata"/><Relationship Id="rId3" Type="http://schemas.openxmlformats.org/officeDocument/2006/relationships/slide" Target="slides/slide1.xml"/><Relationship Id="rId29" Type="http://schemas.openxmlformats.org/officeDocument/2006/relationships/font" Target="fonts/font7.fntdata"/><Relationship Id="rId28" Type="http://schemas.openxmlformats.org/officeDocument/2006/relationships/font" Target="fonts/font6.fntdata"/><Relationship Id="rId27" Type="http://schemas.openxmlformats.org/officeDocument/2006/relationships/font" Target="fonts/font5.fntdata"/><Relationship Id="rId26" Type="http://schemas.openxmlformats.org/officeDocument/2006/relationships/font" Target="fonts/font4.fntdata"/><Relationship Id="rId25" Type="http://schemas.openxmlformats.org/officeDocument/2006/relationships/font" Target="fonts/font3.fntdata"/><Relationship Id="rId24" Type="http://schemas.openxmlformats.org/officeDocument/2006/relationships/font" Target="fonts/font2.fntdata"/><Relationship Id="rId23" Type="http://schemas.openxmlformats.org/officeDocument/2006/relationships/font" Target="fonts/font1.fntdata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1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8.svg"/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png"/><Relationship Id="rId8" Type="http://schemas.openxmlformats.org/officeDocument/2006/relationships/image" Target="../media/image16.svg"/><Relationship Id="rId7" Type="http://schemas.openxmlformats.org/officeDocument/2006/relationships/image" Target="../media/image15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Relationship Id="rId3" Type="http://schemas.openxmlformats.org/officeDocument/2006/relationships/image" Target="../media/image11.png"/><Relationship Id="rId21" Type="http://schemas.openxmlformats.org/officeDocument/2006/relationships/notesSlide" Target="../notesSlides/notesSlide4.xml"/><Relationship Id="rId20" Type="http://schemas.openxmlformats.org/officeDocument/2006/relationships/slideLayout" Target="../slideLayouts/slideLayout2.xml"/><Relationship Id="rId2" Type="http://schemas.openxmlformats.org/officeDocument/2006/relationships/image" Target="../media/image10.svg"/><Relationship Id="rId19" Type="http://schemas.openxmlformats.org/officeDocument/2006/relationships/image" Target="../media/image2.png"/><Relationship Id="rId18" Type="http://schemas.openxmlformats.org/officeDocument/2006/relationships/image" Target="../media/image26.svg"/><Relationship Id="rId17" Type="http://schemas.openxmlformats.org/officeDocument/2006/relationships/image" Target="../media/image25.png"/><Relationship Id="rId16" Type="http://schemas.openxmlformats.org/officeDocument/2006/relationships/image" Target="../media/image24.svg"/><Relationship Id="rId15" Type="http://schemas.openxmlformats.org/officeDocument/2006/relationships/image" Target="../media/image23.png"/><Relationship Id="rId14" Type="http://schemas.openxmlformats.org/officeDocument/2006/relationships/image" Target="../media/image22.svg"/><Relationship Id="rId13" Type="http://schemas.openxmlformats.org/officeDocument/2006/relationships/image" Target="../media/image21.png"/><Relationship Id="rId12" Type="http://schemas.openxmlformats.org/officeDocument/2006/relationships/image" Target="../media/image20.svg"/><Relationship Id="rId11" Type="http://schemas.openxmlformats.org/officeDocument/2006/relationships/image" Target="../media/image19.png"/><Relationship Id="rId10" Type="http://schemas.openxmlformats.org/officeDocument/2006/relationships/image" Target="../media/image18.svg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.png"/><Relationship Id="rId3" Type="http://schemas.openxmlformats.org/officeDocument/2006/relationships/image" Target="../media/image30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.png"/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2.png"/><Relationship Id="rId7" Type="http://schemas.openxmlformats.org/officeDocument/2006/relationships/image" Target="../media/image43.svg"/><Relationship Id="rId6" Type="http://schemas.openxmlformats.org/officeDocument/2006/relationships/image" Target="../media/image42.png"/><Relationship Id="rId5" Type="http://schemas.openxmlformats.org/officeDocument/2006/relationships/image" Target="../media/image41.svg"/><Relationship Id="rId4" Type="http://schemas.openxmlformats.org/officeDocument/2006/relationships/image" Target="../media/image40.png"/><Relationship Id="rId3" Type="http://schemas.openxmlformats.org/officeDocument/2006/relationships/image" Target="../media/image39.svg"/><Relationship Id="rId2" Type="http://schemas.openxmlformats.org/officeDocument/2006/relationships/image" Target="../media/image38.png"/><Relationship Id="rId10" Type="http://schemas.openxmlformats.org/officeDocument/2006/relationships/notesSlide" Target="../notesSlides/notesSlide14.xml"/><Relationship Id="rId1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5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47.png"/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image" Target="../media/image4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37072"/>
            <a:ext cx="10868745" cy="103346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altLang="en-US" sz="3250" b="1" dirty="0">
                <a:latin typeface="Book Antiqua" panose="02040602050305030304" charset="0"/>
                <a:cs typeface="Book Antiqua" panose="02040602050305030304" charset="0"/>
              </a:rPr>
              <a:t>AI-POWERED INTELLIGENT SALES FORECASTING PLATFORM USING PREDICTIVE ANALYTICS – GROUP 1</a:t>
            </a:r>
            <a:endParaRPr lang="en-US" altLang="en-US" sz="3250" b="1" dirty="0">
              <a:latin typeface="Book Antiqua" panose="02040602050305030304" charset="0"/>
              <a:cs typeface="Book Antiqua" panose="0204060205030503030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61475" y="2742505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4C4C4D">
              <a:alpha val="50000"/>
            </a:srgbClr>
          </a:solidFill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661475" y="2988866"/>
            <a:ext cx="3037407" cy="251420"/>
          </a:xfrm>
          <a:prstGeom prst="roundRect">
            <a:avLst>
              <a:gd name="adj" fmla="val 7894"/>
            </a:avLst>
          </a:prstGeom>
          <a:solidFill>
            <a:srgbClr val="CCD7FF"/>
          </a:solidFill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60691" y="3038475"/>
            <a:ext cx="3448559" cy="15220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INFOSYS SPRINGBOARD INTERNSHIP PROJECT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61475" y="3306366"/>
            <a:ext cx="10868745" cy="2584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Team C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61475" y="3812877"/>
            <a:ext cx="330688" cy="20667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61475" y="4074815"/>
            <a:ext cx="3512653" cy="19050"/>
          </a:xfrm>
          <a:prstGeom prst="rect">
            <a:avLst/>
          </a:prstGeom>
          <a:solidFill>
            <a:srgbClr val="2150FE"/>
          </a:solidFill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61475" y="4195564"/>
            <a:ext cx="3512653" cy="26461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Nimisha Mishra -Project Lead + AI/ML Engineer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39422" y="3812877"/>
            <a:ext cx="330688" cy="20667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39422" y="4074815"/>
            <a:ext cx="3512752" cy="19050"/>
          </a:xfrm>
          <a:prstGeom prst="rect">
            <a:avLst/>
          </a:prstGeom>
          <a:solidFill>
            <a:srgbClr val="2150FE"/>
          </a:solidFill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339422" y="4195564"/>
            <a:ext cx="3512752" cy="26461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Kirti Chandra Nayak -Backend Developer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017468" y="3812877"/>
            <a:ext cx="330688" cy="20667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17468" y="4074815"/>
            <a:ext cx="3512653" cy="19050"/>
          </a:xfrm>
          <a:prstGeom prst="rect">
            <a:avLst/>
          </a:prstGeom>
          <a:solidFill>
            <a:srgbClr val="2150FE"/>
          </a:solidFill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017468" y="4195564"/>
            <a:ext cx="3512653" cy="26461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Nadiminti Tharun -DataBase Engineer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1475" y="4749502"/>
            <a:ext cx="330688" cy="20667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04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61475" y="5011440"/>
            <a:ext cx="5351626" cy="19050"/>
          </a:xfrm>
          <a:prstGeom prst="rect">
            <a:avLst/>
          </a:prstGeom>
          <a:solidFill>
            <a:srgbClr val="2150FE"/>
          </a:solidFill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61475" y="5132189"/>
            <a:ext cx="5351626" cy="26461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Jhansi Oruganti -Frontend Developer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78395" y="4749502"/>
            <a:ext cx="330688" cy="20667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05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78395" y="5011440"/>
            <a:ext cx="5351725" cy="19050"/>
          </a:xfrm>
          <a:prstGeom prst="rect">
            <a:avLst/>
          </a:prstGeom>
          <a:solidFill>
            <a:srgbClr val="2150FE"/>
          </a:solidFill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178395" y="5132189"/>
            <a:ext cx="5351725" cy="26461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Arijeet Dhaka -QA Engineer</a:t>
            </a:r>
            <a:endParaRPr lang="en-US" sz="1300" dirty="0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19130" y="109855"/>
            <a:ext cx="1143635" cy="7086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88950"/>
            <a:ext cx="1448161" cy="231676"/>
          </a:xfrm>
          <a:prstGeom prst="roundRect">
            <a:avLst>
              <a:gd name="adj" fmla="val 7897"/>
            </a:avLst>
          </a:prstGeom>
          <a:solidFill>
            <a:srgbClr val="CCD7FF"/>
          </a:solidFill>
        </p:spPr>
      </p:sp>
      <p:sp>
        <p:nvSpPr>
          <p:cNvPr id="3" name="Text 1"/>
          <p:cNvSpPr/>
          <p:nvPr/>
        </p:nvSpPr>
        <p:spPr>
          <a:xfrm>
            <a:off x="752952" y="534690"/>
            <a:ext cx="1874791" cy="1401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PROBLEM &amp; SOLUTION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776784"/>
            <a:ext cx="10868745" cy="47644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Problem Statement &amp; Solution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51742" y="1464072"/>
            <a:ext cx="5243084" cy="4904978"/>
          </a:xfrm>
          <a:prstGeom prst="roundRect">
            <a:avLst>
              <a:gd name="adj" fmla="val 466"/>
            </a:avLst>
          </a:prstGeom>
          <a:solidFill>
            <a:srgbClr val="6366F1"/>
          </a:solidFill>
        </p:spPr>
      </p:sp>
      <p:sp>
        <p:nvSpPr>
          <p:cNvPr id="6" name="Text 4"/>
          <p:cNvSpPr/>
          <p:nvPr/>
        </p:nvSpPr>
        <p:spPr>
          <a:xfrm>
            <a:off x="704138" y="1604566"/>
            <a:ext cx="4938291" cy="2382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Current Sales Challenges</a:t>
            </a:r>
            <a:endParaRPr lang="en-US" sz="15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1286" y="2008436"/>
            <a:ext cx="228693" cy="22869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99525" y="2000845"/>
            <a:ext cx="1885903" cy="93781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Manual lead research consuming </a:t>
            </a:r>
            <a:r>
              <a:rPr lang="en-US" sz="12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hours per prospect</a:t>
            </a:r>
            <a:r>
              <a:rPr lang="en-US" sz="12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diverting rep time from selling</a:t>
            </a:r>
            <a:endParaRPr lang="en-US" sz="1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18189" y="2008436"/>
            <a:ext cx="228693" cy="22869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756427" y="2000845"/>
            <a:ext cx="1886002" cy="70336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Difficulty </a:t>
            </a:r>
            <a:r>
              <a:rPr lang="en-US" sz="12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prioritizing high-value prospects</a:t>
            </a:r>
            <a:r>
              <a:rPr lang="en-US" sz="12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amid noisy pipelines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1286" y="3227338"/>
            <a:ext cx="228693" cy="22869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99525" y="3219748"/>
            <a:ext cx="1885903" cy="70336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Generic, </a:t>
            </a:r>
            <a:r>
              <a:rPr lang="en-US" sz="12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ineffective outreach messaging</a:t>
            </a:r>
            <a:r>
              <a:rPr lang="en-US" sz="12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yielding low response rates</a:t>
            </a:r>
            <a:endParaRPr lang="en-US" sz="12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18189" y="3227338"/>
            <a:ext cx="228693" cy="22869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756427" y="3219748"/>
            <a:ext cx="1886002" cy="70336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Missed follow-ups</a:t>
            </a:r>
            <a:r>
              <a:rPr lang="en-US" sz="12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and lost opportunities from poor tracking</a:t>
            </a:r>
            <a:endParaRPr lang="en-US" sz="12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1286" y="4211786"/>
            <a:ext cx="228693" cy="228699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199525" y="4204196"/>
            <a:ext cx="4442904" cy="4689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Scattered sales information </a:t>
            </a:r>
            <a:r>
              <a:rPr lang="en-US" sz="12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across multiple disconnected systems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6063305" y="1604566"/>
            <a:ext cx="5473166" cy="2382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Our Solution: </a:t>
            </a:r>
            <a:r>
              <a:rPr lang="en-US" sz="1500" dirty="0">
                <a:solidFill>
                  <a:srgbClr val="00D4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SalesGenie</a:t>
            </a:r>
            <a:endParaRPr lang="en-US" sz="1500" dirty="0"/>
          </a:p>
        </p:txBody>
      </p:sp>
      <p:sp>
        <p:nvSpPr>
          <p:cNvPr id="18" name="Text 11"/>
          <p:cNvSpPr/>
          <p:nvPr/>
        </p:nvSpPr>
        <p:spPr>
          <a:xfrm>
            <a:off x="6063305" y="1983284"/>
            <a:ext cx="5473166" cy="70336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An AI-powered B2B sales intelligence and CRM platform that transforms raw prospect information into actionable sales intelligence, enabling sales teams to work smarter and close faster.</a:t>
            </a:r>
            <a:endParaRPr lang="en-US" sz="1200" dirty="0"/>
          </a:p>
        </p:txBody>
      </p:sp>
      <p:sp>
        <p:nvSpPr>
          <p:cNvPr id="19" name="Text 12"/>
          <p:cNvSpPr/>
          <p:nvPr/>
        </p:nvSpPr>
        <p:spPr>
          <a:xfrm>
            <a:off x="6063305" y="2827139"/>
            <a:ext cx="5473166" cy="2382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End-to-End Platform Flow</a:t>
            </a:r>
            <a:endParaRPr lang="en-US" sz="1500" dirty="0"/>
          </a:p>
        </p:txBody>
      </p:sp>
      <p:sp>
        <p:nvSpPr>
          <p:cNvPr id="20" name="Shape 13"/>
          <p:cNvSpPr/>
          <p:nvPr/>
        </p:nvSpPr>
        <p:spPr>
          <a:xfrm>
            <a:off x="6063305" y="3394869"/>
            <a:ext cx="5473166" cy="19050"/>
          </a:xfrm>
          <a:prstGeom prst="roundRect">
            <a:avLst>
              <a:gd name="adj" fmla="val 49999"/>
            </a:avLst>
          </a:prstGeom>
          <a:solidFill>
            <a:srgbClr val="D8D4D4"/>
          </a:solidFill>
        </p:spPr>
      </p:sp>
      <p:sp>
        <p:nvSpPr>
          <p:cNvPr id="21" name="Shape 14"/>
          <p:cNvSpPr/>
          <p:nvPr/>
        </p:nvSpPr>
        <p:spPr>
          <a:xfrm>
            <a:off x="6671897" y="3394819"/>
            <a:ext cx="19050" cy="457398"/>
          </a:xfrm>
          <a:prstGeom prst="roundRect">
            <a:avLst>
              <a:gd name="adj" fmla="val 49999"/>
            </a:avLst>
          </a:prstGeom>
          <a:solidFill>
            <a:srgbClr val="D8D4D4"/>
          </a:solidFill>
        </p:spPr>
      </p:sp>
      <p:sp>
        <p:nvSpPr>
          <p:cNvPr id="22" name="Shape 15"/>
          <p:cNvSpPr/>
          <p:nvPr/>
        </p:nvSpPr>
        <p:spPr>
          <a:xfrm>
            <a:off x="6509976" y="3223369"/>
            <a:ext cx="342991" cy="342999"/>
          </a:xfrm>
          <a:prstGeom prst="roundRect">
            <a:avLst>
              <a:gd name="adj" fmla="val 6668"/>
            </a:avLst>
          </a:prstGeom>
          <a:solidFill>
            <a:srgbClr val="F2EEEE"/>
          </a:solidFill>
        </p:spPr>
      </p:sp>
      <p:sp>
        <p:nvSpPr>
          <p:cNvPr id="23" name="Text 16"/>
          <p:cNvSpPr/>
          <p:nvPr/>
        </p:nvSpPr>
        <p:spPr>
          <a:xfrm>
            <a:off x="6215701" y="4004766"/>
            <a:ext cx="931740" cy="2382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Lead</a:t>
            </a:r>
            <a:endParaRPr lang="en-US" sz="1500" dirty="0"/>
          </a:p>
        </p:txBody>
      </p:sp>
      <p:sp>
        <p:nvSpPr>
          <p:cNvPr id="24" name="Shape 17"/>
          <p:cNvSpPr/>
          <p:nvPr/>
        </p:nvSpPr>
        <p:spPr>
          <a:xfrm>
            <a:off x="8084142" y="3394819"/>
            <a:ext cx="19050" cy="457398"/>
          </a:xfrm>
          <a:prstGeom prst="roundRect">
            <a:avLst>
              <a:gd name="adj" fmla="val 49999"/>
            </a:avLst>
          </a:prstGeom>
          <a:solidFill>
            <a:srgbClr val="D8D4D4"/>
          </a:solidFill>
        </p:spPr>
      </p:sp>
      <p:sp>
        <p:nvSpPr>
          <p:cNvPr id="25" name="Shape 18"/>
          <p:cNvSpPr/>
          <p:nvPr/>
        </p:nvSpPr>
        <p:spPr>
          <a:xfrm>
            <a:off x="7922221" y="3223369"/>
            <a:ext cx="342991" cy="342999"/>
          </a:xfrm>
          <a:prstGeom prst="roundRect">
            <a:avLst>
              <a:gd name="adj" fmla="val 6668"/>
            </a:avLst>
          </a:prstGeom>
          <a:solidFill>
            <a:srgbClr val="F2EEEE"/>
          </a:solidFill>
        </p:spPr>
      </p:sp>
      <p:sp>
        <p:nvSpPr>
          <p:cNvPr id="26" name="Text 19"/>
          <p:cNvSpPr/>
          <p:nvPr/>
        </p:nvSpPr>
        <p:spPr>
          <a:xfrm>
            <a:off x="7627846" y="4004766"/>
            <a:ext cx="931839" cy="4764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Intelligence</a:t>
            </a:r>
            <a:endParaRPr lang="en-US" sz="1500" dirty="0"/>
          </a:p>
        </p:txBody>
      </p:sp>
      <p:sp>
        <p:nvSpPr>
          <p:cNvPr id="27" name="Shape 20"/>
          <p:cNvSpPr/>
          <p:nvPr/>
        </p:nvSpPr>
        <p:spPr>
          <a:xfrm>
            <a:off x="9496287" y="3394819"/>
            <a:ext cx="19050" cy="457398"/>
          </a:xfrm>
          <a:prstGeom prst="roundRect">
            <a:avLst>
              <a:gd name="adj" fmla="val 49999"/>
            </a:avLst>
          </a:prstGeom>
          <a:solidFill>
            <a:srgbClr val="D8D4D4"/>
          </a:solidFill>
        </p:spPr>
      </p:sp>
      <p:sp>
        <p:nvSpPr>
          <p:cNvPr id="28" name="Shape 21"/>
          <p:cNvSpPr/>
          <p:nvPr/>
        </p:nvSpPr>
        <p:spPr>
          <a:xfrm>
            <a:off x="9334366" y="3223369"/>
            <a:ext cx="342991" cy="342999"/>
          </a:xfrm>
          <a:prstGeom prst="roundRect">
            <a:avLst>
              <a:gd name="adj" fmla="val 6668"/>
            </a:avLst>
          </a:prstGeom>
          <a:solidFill>
            <a:srgbClr val="F2EEEE"/>
          </a:solidFill>
        </p:spPr>
      </p:sp>
      <p:sp>
        <p:nvSpPr>
          <p:cNvPr id="29" name="Text 22"/>
          <p:cNvSpPr/>
          <p:nvPr/>
        </p:nvSpPr>
        <p:spPr>
          <a:xfrm>
            <a:off x="9040090" y="4004766"/>
            <a:ext cx="931740" cy="2382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Scoring</a:t>
            </a:r>
            <a:endParaRPr lang="en-US" sz="1500" dirty="0"/>
          </a:p>
        </p:txBody>
      </p:sp>
      <p:sp>
        <p:nvSpPr>
          <p:cNvPr id="30" name="Shape 23"/>
          <p:cNvSpPr/>
          <p:nvPr/>
        </p:nvSpPr>
        <p:spPr>
          <a:xfrm>
            <a:off x="10908531" y="3394819"/>
            <a:ext cx="19050" cy="457398"/>
          </a:xfrm>
          <a:prstGeom prst="roundRect">
            <a:avLst>
              <a:gd name="adj" fmla="val 49999"/>
            </a:avLst>
          </a:prstGeom>
          <a:solidFill>
            <a:srgbClr val="D8D4D4"/>
          </a:solidFill>
        </p:spPr>
      </p:sp>
      <p:sp>
        <p:nvSpPr>
          <p:cNvPr id="31" name="Shape 24"/>
          <p:cNvSpPr/>
          <p:nvPr/>
        </p:nvSpPr>
        <p:spPr>
          <a:xfrm>
            <a:off x="10746610" y="3223369"/>
            <a:ext cx="342991" cy="342999"/>
          </a:xfrm>
          <a:prstGeom prst="roundRect">
            <a:avLst>
              <a:gd name="adj" fmla="val 6668"/>
            </a:avLst>
          </a:prstGeom>
          <a:solidFill>
            <a:srgbClr val="F2EEEE"/>
          </a:solidFill>
        </p:spPr>
      </p:sp>
      <p:sp>
        <p:nvSpPr>
          <p:cNvPr id="32" name="Text 25"/>
          <p:cNvSpPr/>
          <p:nvPr/>
        </p:nvSpPr>
        <p:spPr>
          <a:xfrm>
            <a:off x="10452235" y="4004766"/>
            <a:ext cx="931839" cy="2382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Outreach</a:t>
            </a:r>
            <a:endParaRPr lang="en-US" sz="1500" dirty="0"/>
          </a:p>
        </p:txBody>
      </p:sp>
      <p:sp>
        <p:nvSpPr>
          <p:cNvPr id="33" name="Shape 26"/>
          <p:cNvSpPr/>
          <p:nvPr/>
        </p:nvSpPr>
        <p:spPr>
          <a:xfrm>
            <a:off x="6063305" y="4810720"/>
            <a:ext cx="5473166" cy="19050"/>
          </a:xfrm>
          <a:prstGeom prst="roundRect">
            <a:avLst>
              <a:gd name="adj" fmla="val 49999"/>
            </a:avLst>
          </a:prstGeom>
          <a:solidFill>
            <a:srgbClr val="D8D4D4"/>
          </a:solidFill>
        </p:spPr>
      </p:sp>
      <p:sp>
        <p:nvSpPr>
          <p:cNvPr id="34" name="Shape 27"/>
          <p:cNvSpPr/>
          <p:nvPr/>
        </p:nvSpPr>
        <p:spPr>
          <a:xfrm>
            <a:off x="6907337" y="4810671"/>
            <a:ext cx="19050" cy="457398"/>
          </a:xfrm>
          <a:prstGeom prst="roundRect">
            <a:avLst>
              <a:gd name="adj" fmla="val 49999"/>
            </a:avLst>
          </a:prstGeom>
          <a:solidFill>
            <a:srgbClr val="D8D4D4"/>
          </a:solidFill>
        </p:spPr>
      </p:sp>
      <p:sp>
        <p:nvSpPr>
          <p:cNvPr id="35" name="Shape 28"/>
          <p:cNvSpPr/>
          <p:nvPr/>
        </p:nvSpPr>
        <p:spPr>
          <a:xfrm>
            <a:off x="6745416" y="4639221"/>
            <a:ext cx="342991" cy="342999"/>
          </a:xfrm>
          <a:prstGeom prst="roundRect">
            <a:avLst>
              <a:gd name="adj" fmla="val 6668"/>
            </a:avLst>
          </a:prstGeom>
          <a:solidFill>
            <a:srgbClr val="F2EEEE"/>
          </a:solidFill>
        </p:spPr>
      </p:sp>
      <p:sp>
        <p:nvSpPr>
          <p:cNvPr id="36" name="Text 29"/>
          <p:cNvSpPr/>
          <p:nvPr/>
        </p:nvSpPr>
        <p:spPr>
          <a:xfrm>
            <a:off x="6215701" y="5420618"/>
            <a:ext cx="1402521" cy="4764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Recommendation</a:t>
            </a:r>
            <a:endParaRPr lang="en-US" sz="1500" dirty="0"/>
          </a:p>
        </p:txBody>
      </p:sp>
      <p:sp>
        <p:nvSpPr>
          <p:cNvPr id="37" name="Shape 30"/>
          <p:cNvSpPr/>
          <p:nvPr/>
        </p:nvSpPr>
        <p:spPr>
          <a:xfrm>
            <a:off x="8790264" y="4810671"/>
            <a:ext cx="19050" cy="457398"/>
          </a:xfrm>
          <a:prstGeom prst="roundRect">
            <a:avLst>
              <a:gd name="adj" fmla="val 49999"/>
            </a:avLst>
          </a:prstGeom>
          <a:solidFill>
            <a:srgbClr val="D8D4D4"/>
          </a:solidFill>
        </p:spPr>
      </p:sp>
      <p:sp>
        <p:nvSpPr>
          <p:cNvPr id="38" name="Shape 31"/>
          <p:cNvSpPr/>
          <p:nvPr/>
        </p:nvSpPr>
        <p:spPr>
          <a:xfrm>
            <a:off x="8628343" y="4639221"/>
            <a:ext cx="342991" cy="342999"/>
          </a:xfrm>
          <a:prstGeom prst="roundRect">
            <a:avLst>
              <a:gd name="adj" fmla="val 6668"/>
            </a:avLst>
          </a:prstGeom>
          <a:solidFill>
            <a:srgbClr val="F2EEEE"/>
          </a:solidFill>
        </p:spPr>
      </p:sp>
      <p:sp>
        <p:nvSpPr>
          <p:cNvPr id="39" name="Text 32"/>
          <p:cNvSpPr/>
          <p:nvPr/>
        </p:nvSpPr>
        <p:spPr>
          <a:xfrm>
            <a:off x="8098627" y="5420618"/>
            <a:ext cx="1402521" cy="4764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Conv. Intelligence</a:t>
            </a:r>
            <a:endParaRPr lang="en-US" sz="1500" dirty="0"/>
          </a:p>
        </p:txBody>
      </p:sp>
      <p:sp>
        <p:nvSpPr>
          <p:cNvPr id="40" name="Shape 33"/>
          <p:cNvSpPr/>
          <p:nvPr/>
        </p:nvSpPr>
        <p:spPr>
          <a:xfrm>
            <a:off x="10673190" y="4810671"/>
            <a:ext cx="19050" cy="457398"/>
          </a:xfrm>
          <a:prstGeom prst="roundRect">
            <a:avLst>
              <a:gd name="adj" fmla="val 49999"/>
            </a:avLst>
          </a:prstGeom>
          <a:solidFill>
            <a:srgbClr val="D8D4D4"/>
          </a:solidFill>
        </p:spPr>
      </p:sp>
      <p:sp>
        <p:nvSpPr>
          <p:cNvPr id="41" name="Shape 34"/>
          <p:cNvSpPr/>
          <p:nvPr/>
        </p:nvSpPr>
        <p:spPr>
          <a:xfrm>
            <a:off x="10511269" y="4639221"/>
            <a:ext cx="342991" cy="342999"/>
          </a:xfrm>
          <a:prstGeom prst="roundRect">
            <a:avLst>
              <a:gd name="adj" fmla="val 6668"/>
            </a:avLst>
          </a:prstGeom>
          <a:solidFill>
            <a:srgbClr val="F2EEEE"/>
          </a:solidFill>
        </p:spPr>
      </p:sp>
      <p:sp>
        <p:nvSpPr>
          <p:cNvPr id="42" name="Text 35"/>
          <p:cNvSpPr/>
          <p:nvPr/>
        </p:nvSpPr>
        <p:spPr>
          <a:xfrm>
            <a:off x="9981553" y="5420618"/>
            <a:ext cx="1402521" cy="2382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Analytics</a:t>
            </a:r>
            <a:endParaRPr lang="en-US" sz="1500" dirty="0"/>
          </a:p>
        </p:txBody>
      </p:sp>
      <p:sp>
        <p:nvSpPr>
          <p:cNvPr id="43" name="Text 36"/>
          <p:cNvSpPr/>
          <p:nvPr/>
        </p:nvSpPr>
        <p:spPr>
          <a:xfrm>
            <a:off x="6063305" y="6055122"/>
            <a:ext cx="6082751" cy="1874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Each stage is AI-augmented, ensuring every handoff enriches the lead records.</a:t>
            </a:r>
            <a:endParaRPr lang="en-US" sz="950" dirty="0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9765" y="109728"/>
            <a:ext cx="1143000" cy="70772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97284"/>
            <a:ext cx="1070345" cy="235446"/>
          </a:xfrm>
          <a:prstGeom prst="roundRect">
            <a:avLst>
              <a:gd name="adj" fmla="val 7903"/>
            </a:avLst>
          </a:prstGeom>
          <a:solidFill>
            <a:srgbClr val="CCD7FF"/>
          </a:solidFill>
        </p:spPr>
      </p:sp>
      <p:sp>
        <p:nvSpPr>
          <p:cNvPr id="3" name="Text 1"/>
          <p:cNvSpPr/>
          <p:nvPr/>
        </p:nvSpPr>
        <p:spPr>
          <a:xfrm>
            <a:off x="754441" y="543719"/>
            <a:ext cx="1493999" cy="1425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ARCHITECTURE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790873"/>
            <a:ext cx="10868745" cy="4844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System Architecture Overview</a:t>
            </a:r>
            <a:endParaRPr lang="en-US" sz="3050" dirty="0"/>
          </a:p>
        </p:txBody>
      </p:sp>
      <p:sp>
        <p:nvSpPr>
          <p:cNvPr id="5" name="Text 3"/>
          <p:cNvSpPr/>
          <p:nvPr/>
        </p:nvSpPr>
        <p:spPr>
          <a:xfrm>
            <a:off x="661475" y="1638697"/>
            <a:ext cx="4120551" cy="2421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Tech Stack</a:t>
            </a:r>
            <a:endParaRPr lang="en-US" sz="15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044402"/>
            <a:ext cx="4120551" cy="9759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1698" y="2218432"/>
            <a:ext cx="3696302" cy="2421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User Layer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1698" y="2605980"/>
            <a:ext cx="3696302" cy="2403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Browser access with role-based security</a:t>
            </a:r>
            <a:endParaRPr lang="en-US" sz="1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3165673"/>
            <a:ext cx="4120551" cy="97591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11698" y="3339703"/>
            <a:ext cx="3696302" cy="2421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Streamlit Frontend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911698" y="3727252"/>
            <a:ext cx="3696302" cy="2403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Responsive UI for all six platform modules</a:t>
            </a:r>
            <a:endParaRPr lang="en-US" sz="12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4286945"/>
            <a:ext cx="4120551" cy="97591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11698" y="4460974"/>
            <a:ext cx="3696302" cy="2421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FastAPI Backend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911698" y="4848523"/>
            <a:ext cx="3696302" cy="2403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REST API layer for module logic and data flow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5166588" y="1638697"/>
            <a:ext cx="6369883" cy="2421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Core Platform Modules</a:t>
            </a:r>
            <a:endParaRPr lang="en-US" sz="15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24729" y="2049165"/>
            <a:ext cx="232563" cy="23256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670408" y="2044402"/>
            <a:ext cx="2590239" cy="48438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Lead Management &amp; Prospect Database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5670408" y="2674144"/>
            <a:ext cx="2590239" cy="72092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Capture, organize, and maintain structured prospect records as the foundation for all downstream AI</a:t>
            </a:r>
            <a:endParaRPr lang="en-US" sz="12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00453" y="2049165"/>
            <a:ext cx="232563" cy="232569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946132" y="2044402"/>
            <a:ext cx="2590338" cy="48438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Lead Intelligence &amp; Company Analysis</a:t>
            </a:r>
            <a:endParaRPr lang="en-US" sz="1500" dirty="0"/>
          </a:p>
        </p:txBody>
      </p:sp>
      <p:sp>
        <p:nvSpPr>
          <p:cNvPr id="21" name="Text 14"/>
          <p:cNvSpPr/>
          <p:nvPr/>
        </p:nvSpPr>
        <p:spPr>
          <a:xfrm>
            <a:off x="8946132" y="2674144"/>
            <a:ext cx="2590338" cy="72092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AI-driven deep analysis of company context, market position, and strategic signals</a:t>
            </a:r>
            <a:endParaRPr lang="en-US" sz="120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24729" y="3690541"/>
            <a:ext cx="232563" cy="232569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670408" y="3685778"/>
            <a:ext cx="2590239" cy="2421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AI Outreach Generation</a:t>
            </a:r>
            <a:endParaRPr lang="en-US" sz="1500" dirty="0"/>
          </a:p>
        </p:txBody>
      </p:sp>
      <p:sp>
        <p:nvSpPr>
          <p:cNvPr id="24" name="Text 16"/>
          <p:cNvSpPr/>
          <p:nvPr/>
        </p:nvSpPr>
        <p:spPr>
          <a:xfrm>
            <a:off x="5670408" y="4073327"/>
            <a:ext cx="2590239" cy="48061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Industry-specific, LLM-powered personalized messaging at scale</a:t>
            </a:r>
            <a:endParaRPr lang="en-US" sz="1200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00453" y="3690541"/>
            <a:ext cx="232563" cy="232569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8946132" y="3685778"/>
            <a:ext cx="2590338" cy="48438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Lead Scoring &amp; Recommendation Engine</a:t>
            </a:r>
            <a:endParaRPr lang="en-US" sz="1500" dirty="0"/>
          </a:p>
        </p:txBody>
      </p:sp>
      <p:sp>
        <p:nvSpPr>
          <p:cNvPr id="27" name="Text 18"/>
          <p:cNvSpPr/>
          <p:nvPr/>
        </p:nvSpPr>
        <p:spPr>
          <a:xfrm>
            <a:off x="8946132" y="4315520"/>
            <a:ext cx="2590338" cy="48061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Predictive fit scoring and prioritization for pipeline focus</a:t>
            </a:r>
            <a:endParaRPr lang="en-US" sz="1200" dirty="0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24729" y="5091609"/>
            <a:ext cx="232563" cy="232569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5670408" y="5086846"/>
            <a:ext cx="2590239" cy="48438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Conversation Intelligence &amp; CRM Integration</a:t>
            </a:r>
            <a:endParaRPr lang="en-US" sz="1500" dirty="0"/>
          </a:p>
        </p:txBody>
      </p:sp>
      <p:sp>
        <p:nvSpPr>
          <p:cNvPr id="30" name="Text 20"/>
          <p:cNvSpPr/>
          <p:nvPr/>
        </p:nvSpPr>
        <p:spPr>
          <a:xfrm>
            <a:off x="5670408" y="5716588"/>
            <a:ext cx="2590239" cy="48061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Automated call analysis and CRM data synchronization</a:t>
            </a:r>
            <a:endParaRPr lang="en-US" sz="1200" dirty="0"/>
          </a:p>
        </p:txBody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00453" y="5091609"/>
            <a:ext cx="232563" cy="232569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8946132" y="5086846"/>
            <a:ext cx="2590338" cy="2421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Dashboard &amp; Sales Analytics</a:t>
            </a:r>
            <a:endParaRPr lang="en-US" sz="1500" dirty="0"/>
          </a:p>
        </p:txBody>
      </p:sp>
      <p:sp>
        <p:nvSpPr>
          <p:cNvPr id="33" name="Text 22"/>
          <p:cNvSpPr/>
          <p:nvPr/>
        </p:nvSpPr>
        <p:spPr>
          <a:xfrm>
            <a:off x="8946132" y="5474395"/>
            <a:ext cx="2590338" cy="72092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Real-time forecasting, KPI visualization, and performance reporting</a:t>
            </a:r>
            <a:endParaRPr lang="en-US" sz="1200" dirty="0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19765" y="109728"/>
            <a:ext cx="1143000" cy="70772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67320"/>
            <a:ext cx="792440" cy="239415"/>
          </a:xfrm>
          <a:prstGeom prst="roundRect">
            <a:avLst>
              <a:gd name="adj" fmla="val 7901"/>
            </a:avLst>
          </a:prstGeom>
          <a:solidFill>
            <a:srgbClr val="CCD7FF"/>
          </a:solidFill>
        </p:spPr>
      </p:sp>
      <p:sp>
        <p:nvSpPr>
          <p:cNvPr id="3" name="Text 1"/>
          <p:cNvSpPr/>
          <p:nvPr/>
        </p:nvSpPr>
        <p:spPr>
          <a:xfrm>
            <a:off x="756028" y="514548"/>
            <a:ext cx="1212919" cy="14495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MODULE 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766762"/>
            <a:ext cx="10868745" cy="49262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Module 1: Lead Management &amp; Prospect Database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61475" y="1634927"/>
            <a:ext cx="5804747" cy="24626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Purpose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61475" y="2031405"/>
            <a:ext cx="5804747" cy="9850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Centralized lead management system that captures, organizes, and maintains comprehensive prospect information as the </a:t>
            </a:r>
            <a:r>
              <a:rPr lang="en-US" sz="12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foundation for all downstream AI modules</a:t>
            </a: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Without clean, structured data at this layer, no AI enrichment downstream can perform reliably.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61475" y="3166666"/>
            <a:ext cx="5804747" cy="24626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Core Capabilities</a:t>
            </a:r>
            <a:endParaRPr lang="en-US" sz="15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3609479"/>
            <a:ext cx="236432" cy="2364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48121" y="3616325"/>
            <a:ext cx="2421869" cy="24626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Lead Creation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048121" y="4012803"/>
            <a:ext cx="2421869" cy="73878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Add new prospects with structured, validated data entry across all required fields</a:t>
            </a:r>
            <a:endParaRPr lang="en-US" sz="12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57707" y="3609479"/>
            <a:ext cx="236432" cy="2364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044353" y="3616325"/>
            <a:ext cx="2421869" cy="24626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Prospect Information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044353" y="4012803"/>
            <a:ext cx="2421869" cy="73878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Contact details, company information, and precise industry classification</a:t>
            </a:r>
            <a:endParaRPr lang="en-US" sz="12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5079603"/>
            <a:ext cx="236432" cy="23643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48121" y="5086449"/>
            <a:ext cx="2421869" cy="24626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Lead Status Tracking</a:t>
            </a:r>
            <a:endParaRPr lang="en-US" sz="1550" dirty="0"/>
          </a:p>
        </p:txBody>
      </p:sp>
      <p:sp>
        <p:nvSpPr>
          <p:cNvPr id="16" name="Text 11"/>
          <p:cNvSpPr/>
          <p:nvPr/>
        </p:nvSpPr>
        <p:spPr>
          <a:xfrm>
            <a:off x="1048121" y="5482927"/>
            <a:ext cx="2421869" cy="73878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Pipeline states: New → Contacted → Qualified → In-Progress → Closed</a:t>
            </a:r>
            <a:endParaRPr lang="en-US" sz="12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57707" y="5079603"/>
            <a:ext cx="236432" cy="23643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044353" y="5086449"/>
            <a:ext cx="2421869" cy="24626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Notes &amp; History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4044353" y="5482927"/>
            <a:ext cx="2421869" cy="73878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Full interaction history and contextual notes attached to every lead record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6857134" y="1634927"/>
            <a:ext cx="4679337" cy="24626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Module 1 Workflow</a:t>
            </a:r>
            <a:endParaRPr lang="en-US" sz="155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57134" y="2050157"/>
            <a:ext cx="2264512" cy="1954014"/>
          </a:xfrm>
          <a:prstGeom prst="rect">
            <a:avLst/>
          </a:prstGeom>
        </p:spPr>
      </p:pic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871124" y="2187377"/>
            <a:ext cx="236432" cy="23643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033739" y="2692301"/>
            <a:ext cx="1911302" cy="24626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Update</a:t>
            </a:r>
            <a:endParaRPr lang="en-US" sz="1550" dirty="0"/>
          </a:p>
        </p:txBody>
      </p:sp>
      <p:sp>
        <p:nvSpPr>
          <p:cNvPr id="24" name="Text 16"/>
          <p:cNvSpPr/>
          <p:nvPr/>
        </p:nvSpPr>
        <p:spPr>
          <a:xfrm>
            <a:off x="7033739" y="3088779"/>
            <a:ext cx="1911302" cy="73878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Status and notes updated in real-time as interactions progress</a:t>
            </a:r>
            <a:endParaRPr lang="en-US" sz="1200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271859" y="2050157"/>
            <a:ext cx="2264611" cy="1954014"/>
          </a:xfrm>
          <a:prstGeom prst="rect">
            <a:avLst/>
          </a:prstGeom>
        </p:spPr>
      </p:pic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285949" y="2187377"/>
            <a:ext cx="236432" cy="236438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9448464" y="2692301"/>
            <a:ext cx="1911401" cy="24626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Manage</a:t>
            </a:r>
            <a:endParaRPr lang="en-US" sz="1550" dirty="0"/>
          </a:p>
        </p:txBody>
      </p:sp>
      <p:sp>
        <p:nvSpPr>
          <p:cNvPr id="28" name="Text 18"/>
          <p:cNvSpPr/>
          <p:nvPr/>
        </p:nvSpPr>
        <p:spPr>
          <a:xfrm>
            <a:off x="9448464" y="3088779"/>
            <a:ext cx="1911401" cy="73878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Search, filter, and segment the prospect database with precision</a:t>
            </a:r>
            <a:endParaRPr lang="en-US" sz="1200" dirty="0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57134" y="4154388"/>
            <a:ext cx="2264512" cy="1954014"/>
          </a:xfrm>
          <a:prstGeom prst="rect">
            <a:avLst/>
          </a:prstGeom>
        </p:spPr>
      </p:pic>
      <p:pic>
        <p:nvPicPr>
          <p:cNvPr id="30" name="Image 9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871124" y="4291608"/>
            <a:ext cx="236432" cy="236438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7033739" y="4796532"/>
            <a:ext cx="1911302" cy="24626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Store</a:t>
            </a:r>
            <a:endParaRPr lang="en-US" sz="1550" dirty="0"/>
          </a:p>
        </p:txBody>
      </p:sp>
      <p:sp>
        <p:nvSpPr>
          <p:cNvPr id="32" name="Text 20"/>
          <p:cNvSpPr/>
          <p:nvPr/>
        </p:nvSpPr>
        <p:spPr>
          <a:xfrm>
            <a:off x="7033739" y="5193010"/>
            <a:ext cx="1911302" cy="73878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Normalized records persisted to the relational database layer</a:t>
            </a:r>
            <a:endParaRPr lang="en-US" sz="1200" dirty="0"/>
          </a:p>
        </p:txBody>
      </p:sp>
      <p:pic>
        <p:nvPicPr>
          <p:cNvPr id="33" name="Image 10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271859" y="4154388"/>
            <a:ext cx="2264611" cy="1954014"/>
          </a:xfrm>
          <a:prstGeom prst="rect">
            <a:avLst/>
          </a:prstGeom>
        </p:spPr>
      </p:pic>
      <p:pic>
        <p:nvPicPr>
          <p:cNvPr id="34" name="Image 11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285949" y="4291608"/>
            <a:ext cx="236432" cy="236438"/>
          </a:xfrm>
          <a:prstGeom prst="rect">
            <a:avLst/>
          </a:prstGeom>
        </p:spPr>
      </p:pic>
      <p:sp>
        <p:nvSpPr>
          <p:cNvPr id="35" name="Text 21"/>
          <p:cNvSpPr/>
          <p:nvPr/>
        </p:nvSpPr>
        <p:spPr>
          <a:xfrm>
            <a:off x="9448464" y="4796532"/>
            <a:ext cx="1911401" cy="24626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Create Lead</a:t>
            </a:r>
            <a:endParaRPr lang="en-US" sz="1550" dirty="0"/>
          </a:p>
        </p:txBody>
      </p:sp>
      <p:sp>
        <p:nvSpPr>
          <p:cNvPr id="36" name="Text 22"/>
          <p:cNvSpPr/>
          <p:nvPr/>
        </p:nvSpPr>
        <p:spPr>
          <a:xfrm>
            <a:off x="9448464" y="5193010"/>
            <a:ext cx="1911401" cy="73878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Sales rep enters prospect details via the Streamlit UI form</a:t>
            </a:r>
            <a:endParaRPr lang="en-US" sz="1200" dirty="0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819765" y="109728"/>
            <a:ext cx="1143000" cy="70772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78334"/>
            <a:ext cx="1464928" cy="231676"/>
          </a:xfrm>
          <a:prstGeom prst="roundRect">
            <a:avLst>
              <a:gd name="adj" fmla="val 7897"/>
            </a:avLst>
          </a:prstGeom>
          <a:solidFill>
            <a:srgbClr val="CCD7FF"/>
          </a:solidFill>
        </p:spPr>
      </p:sp>
      <p:sp>
        <p:nvSpPr>
          <p:cNvPr id="3" name="Text 1"/>
          <p:cNvSpPr/>
          <p:nvPr/>
        </p:nvSpPr>
        <p:spPr>
          <a:xfrm>
            <a:off x="752952" y="524073"/>
            <a:ext cx="1891558" cy="1401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MODULE 1 — EXAMPLE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766167"/>
            <a:ext cx="10868745" cy="47644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Module 1: Prospect Database Example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61475" y="1593949"/>
            <a:ext cx="5248441" cy="2382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Sample Lead Profile — </a:t>
            </a:r>
            <a:r>
              <a:rPr lang="en-US" sz="1500" dirty="0">
                <a:solidFill>
                  <a:srgbClr val="00D4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Salesforce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61475" y="1990229"/>
            <a:ext cx="5248441" cy="3852664"/>
          </a:xfrm>
          <a:prstGeom prst="roundRect">
            <a:avLst>
              <a:gd name="adj" fmla="val 594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1475" y="2415580"/>
            <a:ext cx="5248441" cy="9530"/>
          </a:xfrm>
          <a:prstGeom prst="rect">
            <a:avLst/>
          </a:prstGeom>
          <a:solidFill>
            <a:srgbClr val="000000">
              <a:alpha val="8000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661475" y="2837755"/>
            <a:ext cx="5248441" cy="9530"/>
          </a:xfrm>
          <a:prstGeom prst="rect">
            <a:avLst/>
          </a:prstGeom>
          <a:solidFill>
            <a:srgbClr val="000000">
              <a:alpha val="8000"/>
            </a:srgbClr>
          </a:solidFill>
        </p:spPr>
      </p:sp>
      <p:sp>
        <p:nvSpPr>
          <p:cNvPr id="9" name="Shape 7"/>
          <p:cNvSpPr/>
          <p:nvPr/>
        </p:nvSpPr>
        <p:spPr>
          <a:xfrm>
            <a:off x="661475" y="3259931"/>
            <a:ext cx="5248441" cy="9530"/>
          </a:xfrm>
          <a:prstGeom prst="rect">
            <a:avLst/>
          </a:prstGeom>
          <a:solidFill>
            <a:srgbClr val="000000">
              <a:alpha val="8000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661475" y="3682107"/>
            <a:ext cx="5248441" cy="9530"/>
          </a:xfrm>
          <a:prstGeom prst="rect">
            <a:avLst/>
          </a:prstGeom>
          <a:solidFill>
            <a:srgbClr val="000000">
              <a:alpha val="8000"/>
            </a:srgbClr>
          </a:solidFill>
        </p:spPr>
      </p:sp>
      <p:sp>
        <p:nvSpPr>
          <p:cNvPr id="11" name="Shape 9"/>
          <p:cNvSpPr/>
          <p:nvPr/>
        </p:nvSpPr>
        <p:spPr>
          <a:xfrm>
            <a:off x="661475" y="4104283"/>
            <a:ext cx="5248441" cy="9530"/>
          </a:xfrm>
          <a:prstGeom prst="rect">
            <a:avLst/>
          </a:prstGeom>
          <a:solidFill>
            <a:srgbClr val="000000">
              <a:alpha val="8000"/>
            </a:srgbClr>
          </a:solidFill>
        </p:spPr>
      </p:sp>
      <p:sp>
        <p:nvSpPr>
          <p:cNvPr id="12" name="Shape 10"/>
          <p:cNvSpPr/>
          <p:nvPr/>
        </p:nvSpPr>
        <p:spPr>
          <a:xfrm>
            <a:off x="661475" y="4526459"/>
            <a:ext cx="5248441" cy="9530"/>
          </a:xfrm>
          <a:prstGeom prst="rect">
            <a:avLst/>
          </a:prstGeom>
          <a:solidFill>
            <a:srgbClr val="000000">
              <a:alpha val="8000"/>
            </a:srgbClr>
          </a:solidFill>
        </p:spPr>
      </p:sp>
      <p:sp>
        <p:nvSpPr>
          <p:cNvPr id="13" name="Shape 11"/>
          <p:cNvSpPr/>
          <p:nvPr/>
        </p:nvSpPr>
        <p:spPr>
          <a:xfrm>
            <a:off x="661475" y="5183088"/>
            <a:ext cx="5248441" cy="9530"/>
          </a:xfrm>
          <a:prstGeom prst="rect">
            <a:avLst/>
          </a:prstGeom>
          <a:solidFill>
            <a:srgbClr val="000000">
              <a:alpha val="8000"/>
            </a:srgbClr>
          </a:solidFill>
        </p:spPr>
      </p:sp>
      <p:sp>
        <p:nvSpPr>
          <p:cNvPr id="14" name="Text 12"/>
          <p:cNvSpPr/>
          <p:nvPr/>
        </p:nvSpPr>
        <p:spPr>
          <a:xfrm>
            <a:off x="820320" y="2087265"/>
            <a:ext cx="2922614" cy="2344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Field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38141" y="2087265"/>
            <a:ext cx="2922614" cy="2344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Value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0320" y="2509441"/>
            <a:ext cx="2922614" cy="2344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Company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38141" y="2509441"/>
            <a:ext cx="2922614" cy="2344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Salesforce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0320" y="2931616"/>
            <a:ext cx="2922614" cy="2344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Industry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38141" y="2931616"/>
            <a:ext cx="2922614" cy="2344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Technology / SaaS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0320" y="3353792"/>
            <a:ext cx="2922614" cy="2344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Company Size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38141" y="3353792"/>
            <a:ext cx="2922614" cy="2344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Enterprise (5,000+ employees)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0320" y="3775968"/>
            <a:ext cx="2922614" cy="2344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Website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38141" y="3775968"/>
            <a:ext cx="2922614" cy="2344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salesforce.com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0320" y="4198144"/>
            <a:ext cx="2922614" cy="2344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Lead Status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438141" y="4198144"/>
            <a:ext cx="2922614" cy="2344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00D4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Qualified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0320" y="4620320"/>
            <a:ext cx="2922614" cy="2344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Contact Role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438141" y="4620320"/>
            <a:ext cx="2313029" cy="4689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Sales Development Representative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0320" y="5276949"/>
            <a:ext cx="2922614" cy="2344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Notes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438141" y="5276949"/>
            <a:ext cx="2313029" cy="4689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Recent Series funding; expanding into AI/ML solutions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61475" y="6000948"/>
            <a:ext cx="5248441" cy="2382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288129" y="1593949"/>
            <a:ext cx="5248441" cy="2382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Database Feature Set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288129" y="1990229"/>
            <a:ext cx="2553926" cy="1897658"/>
          </a:xfrm>
          <a:prstGeom prst="roundRect">
            <a:avLst>
              <a:gd name="adj" fmla="val 1205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59574" y="2161679"/>
            <a:ext cx="2211035" cy="4764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Advanced Search &amp; Filtering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459574" y="2778621"/>
            <a:ext cx="2211035" cy="93781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Multi-dimensional search across company name, industry, size, status, and custom fields for rapid prospect discovery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982545" y="1990229"/>
            <a:ext cx="2554025" cy="1897658"/>
          </a:xfrm>
          <a:prstGeom prst="roundRect">
            <a:avLst>
              <a:gd name="adj" fmla="val 1205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53991" y="2161679"/>
            <a:ext cx="2211134" cy="2382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Lead Status Management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9153991" y="2540397"/>
            <a:ext cx="2211134" cy="93781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Pipeline stage tracking with full audit trail — every status transition is logged with timestamp and user attribution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288129" y="4028380"/>
            <a:ext cx="2553926" cy="1893888"/>
          </a:xfrm>
          <a:prstGeom prst="roundRect">
            <a:avLst>
              <a:gd name="adj" fmla="val 1208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59574" y="4199830"/>
            <a:ext cx="2211035" cy="2382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Custom Field Architecture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6459574" y="4578548"/>
            <a:ext cx="2211035" cy="93781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Detailed lead profiles with extensible custom fields tailored to specific verticals and sales motions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982545" y="4028380"/>
            <a:ext cx="2554025" cy="1893888"/>
          </a:xfrm>
          <a:prstGeom prst="roundRect">
            <a:avLst>
              <a:gd name="adj" fmla="val 1208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153991" y="4199830"/>
            <a:ext cx="2211134" cy="2382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Structured Records for AI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9153991" y="4578548"/>
            <a:ext cx="2211134" cy="117227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All prospect data normalized and structured for direct consumption by Modules 2–6 without transformation overhead</a:t>
            </a:r>
            <a:endParaRPr lang="en-US" sz="1200" dirty="0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19765" y="109728"/>
            <a:ext cx="1143000" cy="70772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61466"/>
            <a:ext cx="753151" cy="227806"/>
          </a:xfrm>
          <a:prstGeom prst="roundRect">
            <a:avLst>
              <a:gd name="adj" fmla="val 7895"/>
            </a:avLst>
          </a:prstGeom>
          <a:solidFill>
            <a:srgbClr val="CCD7FF"/>
          </a:solidFill>
        </p:spPr>
      </p:sp>
      <p:sp>
        <p:nvSpPr>
          <p:cNvPr id="3" name="Text 1"/>
          <p:cNvSpPr/>
          <p:nvPr/>
        </p:nvSpPr>
        <p:spPr>
          <a:xfrm>
            <a:off x="751365" y="506413"/>
            <a:ext cx="1182956" cy="1379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MODULE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1475" y="743545"/>
            <a:ext cx="10868745" cy="46841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Module 2: Lead Intelligence &amp; Company Analysis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661475" y="1415653"/>
            <a:ext cx="10868745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Transform raw company information into </a:t>
            </a:r>
            <a:r>
              <a:rPr lang="en-US" sz="11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structured, actionable intelligence</a:t>
            </a: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that informs all downstream AI decisions and sales strategies — eliminating hours of manual research per account.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61475" y="2161480"/>
            <a:ext cx="5251517" cy="2341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Analysis Dimensions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61475" y="2548434"/>
            <a:ext cx="2557795" cy="1355427"/>
          </a:xfrm>
          <a:prstGeom prst="roundRect">
            <a:avLst>
              <a:gd name="adj" fmla="val 1659"/>
            </a:avLst>
          </a:prstGeom>
          <a:solidFill>
            <a:srgbClr val="F2EEEE"/>
          </a:solidFill>
        </p:spPr>
      </p:sp>
      <p:sp>
        <p:nvSpPr>
          <p:cNvPr id="8" name="Text 6"/>
          <p:cNvSpPr/>
          <p:nvPr/>
        </p:nvSpPr>
        <p:spPr>
          <a:xfrm>
            <a:off x="811291" y="2698254"/>
            <a:ext cx="2258162" cy="2341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Industry Analysis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11291" y="3068241"/>
            <a:ext cx="2258162" cy="6858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Sector trends, market position, and competitive landscape mapping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55097" y="2548434"/>
            <a:ext cx="2557895" cy="1355427"/>
          </a:xfrm>
          <a:prstGeom prst="roundRect">
            <a:avLst>
              <a:gd name="adj" fmla="val 1659"/>
            </a:avLst>
          </a:prstGeom>
          <a:solidFill>
            <a:srgbClr val="F2EEEE"/>
          </a:solidFill>
        </p:spPr>
      </p:sp>
      <p:sp>
        <p:nvSpPr>
          <p:cNvPr id="11" name="Text 9"/>
          <p:cNvSpPr/>
          <p:nvPr/>
        </p:nvSpPr>
        <p:spPr>
          <a:xfrm>
            <a:off x="3504914" y="2698254"/>
            <a:ext cx="2258261" cy="2341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Company Size &amp; Scale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504914" y="3068241"/>
            <a:ext cx="2258261" cy="6858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Revenue estimates, employee count, and growth trajectory indicators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61475" y="4039691"/>
            <a:ext cx="2557795" cy="1355427"/>
          </a:xfrm>
          <a:prstGeom prst="roundRect">
            <a:avLst>
              <a:gd name="adj" fmla="val 1659"/>
            </a:avLst>
          </a:prstGeom>
          <a:solidFill>
            <a:srgbClr val="F2EEEE"/>
          </a:solidFill>
        </p:spPr>
      </p:sp>
      <p:sp>
        <p:nvSpPr>
          <p:cNvPr id="14" name="Text 12"/>
          <p:cNvSpPr/>
          <p:nvPr/>
        </p:nvSpPr>
        <p:spPr>
          <a:xfrm>
            <a:off x="811291" y="4189512"/>
            <a:ext cx="2258162" cy="2341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Business Profile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11291" y="4559498"/>
            <a:ext cx="2258162" cy="6858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Products, services, target markets, and core business model breakdown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355097" y="4039691"/>
            <a:ext cx="2557895" cy="1355427"/>
          </a:xfrm>
          <a:prstGeom prst="roundRect">
            <a:avLst>
              <a:gd name="adj" fmla="val 1659"/>
            </a:avLst>
          </a:prstGeom>
          <a:solidFill>
            <a:srgbClr val="F2EEEE"/>
          </a:solidFill>
        </p:spPr>
      </p:sp>
      <p:sp>
        <p:nvSpPr>
          <p:cNvPr id="17" name="Text 15"/>
          <p:cNvSpPr/>
          <p:nvPr/>
        </p:nvSpPr>
        <p:spPr>
          <a:xfrm>
            <a:off x="3504914" y="4189512"/>
            <a:ext cx="2258261" cy="2341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Technology Environment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3504914" y="4559498"/>
            <a:ext cx="2258261" cy="6858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Current tech stack, infrastructure maturity, and digital transformation stage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285053" y="2161480"/>
            <a:ext cx="5251517" cy="2341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Intelligence Pipeline</a:t>
            </a:r>
            <a:endParaRPr lang="en-US" sz="145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2838" y="2548434"/>
            <a:ext cx="5095946" cy="3024485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9909677" y="4749361"/>
            <a:ext cx="1266715" cy="48804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Structured Profile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8313269" y="4871372"/>
            <a:ext cx="1266715" cy="2440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AI Analysis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690834" y="4749361"/>
            <a:ext cx="1266714" cy="48804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Company Input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6285053" y="5725716"/>
            <a:ext cx="5251517" cy="5485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Rich, multi-dimensional company intelligence flows directly into Module 3 (Outreach Generation) and Module 4 (Lead Scoring), enabling personalized messaging and accurate opportunity prioritization without manual analyst intervention.</a:t>
            </a:r>
            <a:endParaRPr lang="en-US" sz="900" dirty="0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9765" y="109728"/>
            <a:ext cx="1143000" cy="70772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93415"/>
            <a:ext cx="1362835" cy="227806"/>
          </a:xfrm>
          <a:prstGeom prst="roundRect">
            <a:avLst>
              <a:gd name="adj" fmla="val 7895"/>
            </a:avLst>
          </a:prstGeom>
          <a:solidFill>
            <a:srgbClr val="CCD7FF"/>
          </a:solidFill>
        </p:spPr>
      </p:sp>
      <p:sp>
        <p:nvSpPr>
          <p:cNvPr id="3" name="Text 1"/>
          <p:cNvSpPr/>
          <p:nvPr/>
        </p:nvSpPr>
        <p:spPr>
          <a:xfrm>
            <a:off x="751365" y="538361"/>
            <a:ext cx="1792640" cy="1379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MODULE 2 — OUTPUT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1475" y="775494"/>
            <a:ext cx="10868745" cy="46841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Module 2: AI Lead Intelligence Card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661475" y="1583432"/>
            <a:ext cx="5251517" cy="2341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Intelligence Card Components</a:t>
            </a:r>
            <a:endParaRPr lang="en-US" sz="14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970385"/>
            <a:ext cx="2557795" cy="205273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50483" y="2082800"/>
            <a:ext cx="179780" cy="22483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30341" y="2569865"/>
            <a:ext cx="2220063" cy="2341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Executive Summary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30341" y="2939852"/>
            <a:ext cx="2220063" cy="6858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Concise, LLM-generated overview of the prospect and the strategic sales opportunity</a:t>
            </a:r>
            <a:endParaRPr lang="en-US" sz="11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55097" y="1970385"/>
            <a:ext cx="2557895" cy="205273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44105" y="2082800"/>
            <a:ext cx="179780" cy="22483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523963" y="2569865"/>
            <a:ext cx="2220162" cy="2341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Strengths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523963" y="2939852"/>
            <a:ext cx="2220162" cy="914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Key competitive advantages, market position, and capability highlights relevant to the sales angle</a:t>
            </a:r>
            <a:endParaRPr lang="en-US" sz="11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4158952"/>
            <a:ext cx="2557795" cy="205273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850483" y="4271367"/>
            <a:ext cx="179780" cy="22483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830341" y="4758432"/>
            <a:ext cx="2220063" cy="2341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Challenges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830341" y="5128419"/>
            <a:ext cx="2220063" cy="914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Current pain points, business obstacles, and operational gaps that SalesGenie's offering can address</a:t>
            </a:r>
            <a:endParaRPr lang="en-US" sz="115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55097" y="4158952"/>
            <a:ext cx="2557895" cy="2052737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544105" y="4271367"/>
            <a:ext cx="179780" cy="22483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3523963" y="4758432"/>
            <a:ext cx="2220162" cy="2341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Business Insights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3523963" y="5128419"/>
            <a:ext cx="2220162" cy="6858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Strategic priorities, expansion signals, and growth opportunities identified from public data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6285053" y="1583432"/>
            <a:ext cx="5251517" cy="2341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From Raw Data to Decision-Ready Intelligence</a:t>
            </a:r>
            <a:endParaRPr lang="en-US" sz="145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5053" y="1970385"/>
            <a:ext cx="449648" cy="9525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870528" y="2120205"/>
            <a:ext cx="4666042" cy="2341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Raw Lead Data</a:t>
            </a:r>
            <a:endParaRPr lang="en-US" sz="1450" dirty="0"/>
          </a:p>
        </p:txBody>
      </p:sp>
      <p:sp>
        <p:nvSpPr>
          <p:cNvPr id="25" name="Text 18"/>
          <p:cNvSpPr/>
          <p:nvPr/>
        </p:nvSpPr>
        <p:spPr>
          <a:xfrm>
            <a:off x="6870528" y="2490192"/>
            <a:ext cx="4666042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Company name, industry, size, website, and contextual notes from Module 1</a:t>
            </a:r>
            <a:endParaRPr lang="en-US" sz="1150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9877" y="3233043"/>
            <a:ext cx="449648" cy="95250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095352" y="3382863"/>
            <a:ext cx="4441218" cy="2341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AI Analysis</a:t>
            </a:r>
            <a:endParaRPr lang="en-US" sz="1450" dirty="0"/>
          </a:p>
        </p:txBody>
      </p:sp>
      <p:sp>
        <p:nvSpPr>
          <p:cNvPr id="28" name="Text 20"/>
          <p:cNvSpPr/>
          <p:nvPr/>
        </p:nvSpPr>
        <p:spPr>
          <a:xfrm>
            <a:off x="7095352" y="3752850"/>
            <a:ext cx="4441218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LLM processing across all five analysis dimensions — industry, scale, profile, tech, context</a:t>
            </a:r>
            <a:endParaRPr lang="en-US" sz="1150" dirty="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4701" y="4495701"/>
            <a:ext cx="449648" cy="95250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7320176" y="4645521"/>
            <a:ext cx="4216394" cy="2341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Lead Intelligence Card</a:t>
            </a:r>
            <a:endParaRPr lang="en-US" sz="1450" dirty="0"/>
          </a:p>
        </p:txBody>
      </p:sp>
      <p:sp>
        <p:nvSpPr>
          <p:cNvPr id="31" name="Text 22"/>
          <p:cNvSpPr/>
          <p:nvPr/>
        </p:nvSpPr>
        <p:spPr>
          <a:xfrm>
            <a:off x="7320176" y="5015508"/>
            <a:ext cx="4216394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Structured, rep-ready intelligence card surfaced directly in the Streamlit UI</a:t>
            </a:r>
            <a:endParaRPr lang="en-US" sz="1150" dirty="0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19765" y="109728"/>
            <a:ext cx="1143000" cy="70772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76548"/>
            <a:ext cx="649073" cy="196255"/>
          </a:xfrm>
          <a:prstGeom prst="roundRect">
            <a:avLst>
              <a:gd name="adj" fmla="val 7901"/>
            </a:avLst>
          </a:prstGeom>
          <a:solidFill>
            <a:srgbClr val="CCD7FF"/>
          </a:solidFill>
        </p:spPr>
      </p:sp>
      <p:sp>
        <p:nvSpPr>
          <p:cNvPr id="3" name="Text 1"/>
          <p:cNvSpPr/>
          <p:nvPr/>
        </p:nvSpPr>
        <p:spPr>
          <a:xfrm>
            <a:off x="738963" y="515243"/>
            <a:ext cx="1103682" cy="1188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MODULE 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61475" y="713085"/>
            <a:ext cx="10868745" cy="4038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Module 3: AI Outreach Generation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61475" y="1268313"/>
            <a:ext cx="11478330" cy="1840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Generate </a:t>
            </a:r>
            <a:r>
              <a:rPr lang="en-US" sz="10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personalized, industry-specific outreach messages</a:t>
            </a: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that resonate with each prospect's unique business context and challenges — powered by LLM prompt engineering at scale.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61475" y="1666776"/>
            <a:ext cx="4717535" cy="2019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Personalization Framework</a:t>
            </a:r>
            <a:endParaRPr lang="en-US" sz="12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82192"/>
            <a:ext cx="4717535" cy="37449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590147" y="3547067"/>
            <a:ext cx="847767" cy="58156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Personalized Outreach Message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424129" y="2358634"/>
            <a:ext cx="1261204" cy="1938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Lead Profile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424129" y="2607628"/>
            <a:ext cx="1261204" cy="27613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3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Prospect role and pain points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1321943" y="2358634"/>
            <a:ext cx="1261204" cy="1938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Deliver to Sales Rep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321943" y="2607628"/>
            <a:ext cx="1261204" cy="27613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3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Ready-to-send personalized copy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321943" y="4625434"/>
            <a:ext cx="1261204" cy="58156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Industry-Specific Prompt Engineering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321943" y="5262137"/>
            <a:ext cx="1261204" cy="27613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3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Crafted instructions for LLMs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3424129" y="4722361"/>
            <a:ext cx="1261204" cy="3877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Industry Intelligence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424129" y="5165210"/>
            <a:ext cx="1261204" cy="27613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3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Trends, benchmarks, challenges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879029" y="3571729"/>
            <a:ext cx="1288774" cy="1938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Company Context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879029" y="3820724"/>
            <a:ext cx="1288774" cy="27613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3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Org size, goals, tech stack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860151" y="3578622"/>
            <a:ext cx="1288774" cy="1938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LLM Processing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60151" y="3827617"/>
            <a:ext cx="1288774" cy="27613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3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Groq LLM</a:t>
            </a:r>
            <a:endParaRPr lang="en-US" alt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661475" y="5840611"/>
            <a:ext cx="4717535" cy="2019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61475" y="6143427"/>
            <a:ext cx="5327120" cy="1472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700471" y="1666776"/>
            <a:ext cx="5836000" cy="2019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Industry-Specific Messaging Examples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5700471" y="1982192"/>
            <a:ext cx="2867549" cy="1297384"/>
          </a:xfrm>
          <a:prstGeom prst="roundRect">
            <a:avLst>
              <a:gd name="adj" fmla="val 1494"/>
            </a:avLst>
          </a:prstGeom>
          <a:solidFill>
            <a:srgbClr val="F2EEEE"/>
          </a:solidFill>
        </p:spPr>
      </p:sp>
      <p:sp>
        <p:nvSpPr>
          <p:cNvPr id="25" name="Text 22"/>
          <p:cNvSpPr/>
          <p:nvPr/>
        </p:nvSpPr>
        <p:spPr>
          <a:xfrm>
            <a:off x="5829650" y="2111375"/>
            <a:ext cx="2609189" cy="2019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🖥</a:t>
            </a:r>
            <a:r>
              <a:rPr lang="en-US" sz="12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Technology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5829650" y="2414191"/>
            <a:ext cx="2609189" cy="73620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Messaging centered on </a:t>
            </a:r>
            <a:r>
              <a:rPr lang="en-US" sz="10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AI adoption, cloud scalability,</a:t>
            </a: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and competitive innovation velocity — speaking the language of CTOs and engineering leaders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8668922" y="1982192"/>
            <a:ext cx="2867549" cy="1297384"/>
          </a:xfrm>
          <a:prstGeom prst="roundRect">
            <a:avLst>
              <a:gd name="adj" fmla="val 1494"/>
            </a:avLst>
          </a:prstGeom>
          <a:solidFill>
            <a:srgbClr val="F2EEEE"/>
          </a:solidFill>
        </p:spPr>
      </p:sp>
      <p:sp>
        <p:nvSpPr>
          <p:cNvPr id="28" name="Text 25"/>
          <p:cNvSpPr/>
          <p:nvPr/>
        </p:nvSpPr>
        <p:spPr>
          <a:xfrm>
            <a:off x="8798102" y="2111375"/>
            <a:ext cx="2609189" cy="2019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🏦</a:t>
            </a:r>
            <a:r>
              <a:rPr lang="en-US" sz="12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Finance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8798102" y="2414191"/>
            <a:ext cx="2609189" cy="73620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Emphasis on </a:t>
            </a:r>
            <a:r>
              <a:rPr lang="en-US" sz="10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security posture, regulatory compliance,</a:t>
            </a: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and risk management frameworks — addressing the priorities of CFOs and compliance officers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5700471" y="3380482"/>
            <a:ext cx="5836000" cy="929283"/>
          </a:xfrm>
          <a:prstGeom prst="roundRect">
            <a:avLst>
              <a:gd name="adj" fmla="val 2086"/>
            </a:avLst>
          </a:prstGeom>
          <a:solidFill>
            <a:srgbClr val="F2EEEE"/>
          </a:solidFill>
        </p:spPr>
      </p:sp>
      <p:sp>
        <p:nvSpPr>
          <p:cNvPr id="31" name="Text 28"/>
          <p:cNvSpPr/>
          <p:nvPr/>
        </p:nvSpPr>
        <p:spPr>
          <a:xfrm>
            <a:off x="5829650" y="3509665"/>
            <a:ext cx="5577641" cy="2019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🏥</a:t>
            </a:r>
            <a:r>
              <a:rPr lang="en-US" sz="12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Healthcare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5829650" y="3812480"/>
            <a:ext cx="5577641" cy="36810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Focus on </a:t>
            </a:r>
            <a:r>
              <a:rPr lang="en-US" sz="10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data protection (HIPAA), operational efficiency,</a:t>
            </a: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and measurable patient outcome improvements for clinical and administrative buyers</a:t>
            </a:r>
            <a:endParaRPr lang="en-US" sz="1000" dirty="0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9765" y="109728"/>
            <a:ext cx="1143000" cy="70772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46497"/>
            <a:ext cx="875385" cy="264616"/>
          </a:xfrm>
          <a:prstGeom prst="roundRect">
            <a:avLst>
              <a:gd name="adj" fmla="val 7902"/>
            </a:avLst>
          </a:prstGeom>
          <a:solidFill>
            <a:srgbClr val="CCD7FF"/>
          </a:solidFill>
        </p:spPr>
      </p:sp>
      <p:sp>
        <p:nvSpPr>
          <p:cNvPr id="3" name="Text 1"/>
          <p:cNvSpPr/>
          <p:nvPr/>
        </p:nvSpPr>
        <p:spPr>
          <a:xfrm>
            <a:off x="765950" y="598686"/>
            <a:ext cx="1276020" cy="1602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MODULE 4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1475" y="875308"/>
            <a:ext cx="10868745" cy="5445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Lead Scoring &amp; Recommendation Engine</a:t>
            </a:r>
            <a:endParaRPr lang="en-US" sz="3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81955" y="1660723"/>
            <a:ext cx="6027785" cy="46507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562500" y="3724887"/>
            <a:ext cx="1051288" cy="4807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Data Flow Pipeline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596694" y="5261259"/>
            <a:ext cx="1563978" cy="2403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Lead Score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596694" y="5570029"/>
            <a:ext cx="1563978" cy="1847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Value score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331719" y="3722751"/>
            <a:ext cx="1598166" cy="2403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Next Best Action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331719" y="4031521"/>
            <a:ext cx="1598166" cy="1847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Recommended move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989842" y="5141063"/>
            <a:ext cx="1563978" cy="4807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Recommendation Engine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3989842" y="5690226"/>
            <a:ext cx="1563978" cy="1847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Maps to actions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246271" y="3714204"/>
            <a:ext cx="1598166" cy="2403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AI/ML Lead Scoring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246271" y="4022973"/>
            <a:ext cx="1598166" cy="18470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Predictive fit model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254806" y="1778914"/>
            <a:ext cx="1606713" cy="72117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Lead Data + Company Intelligence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254806" y="2568468"/>
            <a:ext cx="1606713" cy="36940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Profiles and firmographics</a:t>
            </a:r>
            <a:endParaRPr lang="en-US" sz="1200" dirty="0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9765" y="109728"/>
            <a:ext cx="1143000" cy="70772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46497"/>
            <a:ext cx="875385" cy="264616"/>
          </a:xfrm>
          <a:prstGeom prst="roundRect">
            <a:avLst>
              <a:gd name="adj" fmla="val 7902"/>
            </a:avLst>
          </a:prstGeom>
          <a:solidFill>
            <a:srgbClr val="CCD7FF"/>
          </a:solidFill>
        </p:spPr>
      </p:sp>
      <p:sp>
        <p:nvSpPr>
          <p:cNvPr id="3" name="Text 1"/>
          <p:cNvSpPr/>
          <p:nvPr/>
        </p:nvSpPr>
        <p:spPr>
          <a:xfrm>
            <a:off x="765950" y="598686"/>
            <a:ext cx="1276020" cy="1602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MODULE 4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1475" y="875308"/>
            <a:ext cx="10868745" cy="5445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Lead Scoring &amp; Recommendation Engine</a:t>
            </a:r>
            <a:endParaRPr lang="en-US" sz="3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81955" y="1660723"/>
            <a:ext cx="6027785" cy="46507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562500" y="3724887"/>
            <a:ext cx="1051288" cy="4807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Data Flow Pipeline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596694" y="5261259"/>
            <a:ext cx="1563978" cy="2403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Lead Score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596694" y="5570029"/>
            <a:ext cx="1563978" cy="1847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Value score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331719" y="3722751"/>
            <a:ext cx="1598166" cy="2403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Next Best Action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331719" y="4031521"/>
            <a:ext cx="1598166" cy="1847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Recommended move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989842" y="5141063"/>
            <a:ext cx="1563978" cy="4807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Recommendation Engine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3989842" y="5690226"/>
            <a:ext cx="1563978" cy="1847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Maps to actions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246271" y="3714204"/>
            <a:ext cx="1598166" cy="2403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AI/ML Lead Scoring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246271" y="4022973"/>
            <a:ext cx="1598166" cy="18470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Predictive fit model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254806" y="1778914"/>
            <a:ext cx="1606713" cy="72117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Lead Data + Company Intelligence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254806" y="2568468"/>
            <a:ext cx="1606713" cy="36940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Profiles and firmographics</a:t>
            </a:r>
            <a:endParaRPr lang="en-US" sz="1200" dirty="0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9765" y="109728"/>
            <a:ext cx="1143000" cy="70772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76064"/>
            <a:ext cx="949698" cy="287139"/>
          </a:xfrm>
          <a:prstGeom prst="roundRect">
            <a:avLst>
              <a:gd name="adj" fmla="val 7899"/>
            </a:avLst>
          </a:prstGeom>
          <a:solidFill>
            <a:srgbClr val="CCD7FF"/>
          </a:solidFill>
        </p:spPr>
      </p:sp>
      <p:sp>
        <p:nvSpPr>
          <p:cNvPr id="3" name="Text 1"/>
          <p:cNvSpPr/>
          <p:nvPr/>
        </p:nvSpPr>
        <p:spPr>
          <a:xfrm>
            <a:off x="774879" y="632718"/>
            <a:ext cx="1332474" cy="1738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MODULE 4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938808"/>
            <a:ext cx="10868745" cy="5906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Recommendation Engine — WHEN + WHERE + WHAT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1812925"/>
            <a:ext cx="11478330" cy="3024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Three inputs combine into one </a:t>
            </a:r>
            <a:r>
              <a:rPr lang="en-US" sz="1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Next Best Action</a:t>
            </a: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61475" y="2327970"/>
            <a:ext cx="3496877" cy="2985294"/>
          </a:xfrm>
          <a:prstGeom prst="roundRect">
            <a:avLst>
              <a:gd name="adj" fmla="val 950"/>
            </a:avLst>
          </a:prstGeom>
          <a:solidFill>
            <a:srgbClr val="F2EEEE"/>
          </a:solidFill>
        </p:spPr>
      </p:sp>
      <p:sp>
        <p:nvSpPr>
          <p:cNvPr id="7" name="Text 5"/>
          <p:cNvSpPr/>
          <p:nvPr/>
        </p:nvSpPr>
        <p:spPr>
          <a:xfrm>
            <a:off x="850482" y="2516981"/>
            <a:ext cx="3118863" cy="3016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⏱</a:t>
            </a: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WHEN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850482" y="2932013"/>
            <a:ext cx="3118863" cy="3024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Follow-up timing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50482" y="3347839"/>
            <a:ext cx="3118863" cy="1776413"/>
          </a:xfrm>
          <a:prstGeom prst="rect">
            <a:avLst/>
          </a:prstGeom>
          <a:noFill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Priority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Engagement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Status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Stage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History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347359" y="2327970"/>
            <a:ext cx="3496877" cy="2985294"/>
          </a:xfrm>
          <a:prstGeom prst="roundRect">
            <a:avLst>
              <a:gd name="adj" fmla="val 950"/>
            </a:avLst>
          </a:prstGeom>
          <a:solidFill>
            <a:srgbClr val="F2EEEE"/>
          </a:solidFill>
        </p:spPr>
      </p:sp>
      <p:sp>
        <p:nvSpPr>
          <p:cNvPr id="11" name="Text 9"/>
          <p:cNvSpPr/>
          <p:nvPr/>
        </p:nvSpPr>
        <p:spPr>
          <a:xfrm>
            <a:off x="4536366" y="2516981"/>
            <a:ext cx="3118863" cy="3016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📡</a:t>
            </a: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WHERE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4536366" y="2932013"/>
            <a:ext cx="3118863" cy="3024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Channel mix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36366" y="3347839"/>
            <a:ext cx="3118863" cy="1407914"/>
          </a:xfrm>
          <a:prstGeom prst="rect">
            <a:avLst/>
          </a:prstGeom>
          <a:noFill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Email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Phone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LinkedIn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Demo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033244" y="2327970"/>
            <a:ext cx="3496877" cy="2985294"/>
          </a:xfrm>
          <a:prstGeom prst="roundRect">
            <a:avLst>
              <a:gd name="adj" fmla="val 950"/>
            </a:avLst>
          </a:prstGeom>
          <a:solidFill>
            <a:srgbClr val="F2EEEE"/>
          </a:solidFill>
        </p:spPr>
      </p:sp>
      <p:sp>
        <p:nvSpPr>
          <p:cNvPr id="15" name="Text 13"/>
          <p:cNvSpPr/>
          <p:nvPr/>
        </p:nvSpPr>
        <p:spPr>
          <a:xfrm>
            <a:off x="8222251" y="2516981"/>
            <a:ext cx="3118863" cy="3016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💬</a:t>
            </a: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WHAT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8222251" y="2932013"/>
            <a:ext cx="3118863" cy="3024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Content strategy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222251" y="3347839"/>
            <a:ext cx="3118863" cy="1776413"/>
          </a:xfrm>
          <a:prstGeom prst="rect">
            <a:avLst/>
          </a:prstGeom>
          <a:noFill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Pain points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Needs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Tech stack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Value prop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CTA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61475" y="5525889"/>
            <a:ext cx="10868745" cy="755948"/>
          </a:xfrm>
          <a:prstGeom prst="roundRect">
            <a:avLst>
              <a:gd name="adj" fmla="val 3751"/>
            </a:avLst>
          </a:prstGeom>
          <a:solidFill>
            <a:srgbClr val="CCD7FF"/>
          </a:solidFill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482" y="5793581"/>
            <a:ext cx="236234" cy="18901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275723" y="5762129"/>
            <a:ext cx="10675075" cy="3024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WHEN + WHERE + WHAT = NEXT BEST ACTION</a:t>
            </a:r>
            <a:endParaRPr lang="en-US" sz="1450" dirty="0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9765" y="109728"/>
            <a:ext cx="1143000" cy="70772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83419"/>
            <a:ext cx="875385" cy="264616"/>
          </a:xfrm>
          <a:prstGeom prst="roundRect">
            <a:avLst>
              <a:gd name="adj" fmla="val 7902"/>
            </a:avLst>
          </a:prstGeom>
          <a:solidFill>
            <a:srgbClr val="CCD7FF"/>
          </a:solidFill>
        </p:spPr>
      </p:sp>
      <p:sp>
        <p:nvSpPr>
          <p:cNvPr id="3" name="Text 1"/>
          <p:cNvSpPr/>
          <p:nvPr/>
        </p:nvSpPr>
        <p:spPr>
          <a:xfrm>
            <a:off x="765950" y="735608"/>
            <a:ext cx="1276020" cy="1602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MODULE 5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1475" y="1012230"/>
            <a:ext cx="10868745" cy="5445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Conversation Intelligence &amp; CRM Integration</a:t>
            </a:r>
            <a:endParaRPr lang="en-US" sz="3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981920"/>
            <a:ext cx="4657112" cy="200828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74868" y="4609361"/>
            <a:ext cx="1056533" cy="1320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LLM Analysis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974868" y="4144475"/>
            <a:ext cx="1056533" cy="13206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Structured Prompt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974868" y="3684284"/>
            <a:ext cx="1056533" cy="1320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Backend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974868" y="3219399"/>
            <a:ext cx="1056533" cy="1320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Transcript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749980" y="1958280"/>
            <a:ext cx="5786491" cy="27215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Structured Outputs</a:t>
            </a:r>
            <a:endParaRPr lang="en-US" sz="17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49980" y="2411115"/>
            <a:ext cx="2812880" cy="10871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019451" y="2604393"/>
            <a:ext cx="2350136" cy="27215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Executive Summary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019451" y="3037185"/>
            <a:ext cx="2350136" cy="2677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Short strategic recap.</a:t>
            </a:r>
            <a:endParaRPr lang="en-US" sz="13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23491" y="2411115"/>
            <a:ext cx="2812980" cy="10871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992963" y="2604393"/>
            <a:ext cx="2350235" cy="27215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Key Points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8992963" y="3037185"/>
            <a:ext cx="2350235" cy="2677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Main themes and context.</a:t>
            </a:r>
            <a:endParaRPr lang="en-US" sz="13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49980" y="3658890"/>
            <a:ext cx="2812880" cy="10871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019451" y="3852168"/>
            <a:ext cx="2350136" cy="27215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Pain Points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6019451" y="4284960"/>
            <a:ext cx="2350136" cy="2677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Customer challenges.</a:t>
            </a:r>
            <a:endParaRPr lang="en-US" sz="135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23491" y="3658890"/>
            <a:ext cx="2812980" cy="10871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992963" y="3852168"/>
            <a:ext cx="2350235" cy="27215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Requirements</a:t>
            </a:r>
            <a:endParaRPr lang="en-US" sz="1700" dirty="0"/>
          </a:p>
        </p:txBody>
      </p:sp>
      <p:sp>
        <p:nvSpPr>
          <p:cNvPr id="22" name="Text 15"/>
          <p:cNvSpPr/>
          <p:nvPr/>
        </p:nvSpPr>
        <p:spPr>
          <a:xfrm>
            <a:off x="8992963" y="4284960"/>
            <a:ext cx="2350235" cy="2677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Business and technical needs.</a:t>
            </a:r>
            <a:endParaRPr lang="en-US" sz="135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49980" y="4906665"/>
            <a:ext cx="2812880" cy="108714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019451" y="5099943"/>
            <a:ext cx="2350136" cy="27215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Action Items</a:t>
            </a:r>
            <a:endParaRPr lang="en-US" sz="1700" dirty="0"/>
          </a:p>
        </p:txBody>
      </p:sp>
      <p:sp>
        <p:nvSpPr>
          <p:cNvPr id="25" name="Text 17"/>
          <p:cNvSpPr/>
          <p:nvPr/>
        </p:nvSpPr>
        <p:spPr>
          <a:xfrm>
            <a:off x="6019451" y="5532735"/>
            <a:ext cx="2350136" cy="2677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Next steps and owners.</a:t>
            </a:r>
            <a:endParaRPr lang="en-US" sz="1350" dirty="0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19765" y="109728"/>
            <a:ext cx="1143000" cy="70772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68523"/>
            <a:ext cx="935213" cy="282674"/>
          </a:xfrm>
          <a:prstGeom prst="roundRect">
            <a:avLst>
              <a:gd name="adj" fmla="val 7899"/>
            </a:avLst>
          </a:prstGeom>
          <a:solidFill>
            <a:srgbClr val="CCD7FF"/>
          </a:solidFill>
        </p:spPr>
      </p:sp>
      <p:sp>
        <p:nvSpPr>
          <p:cNvPr id="3" name="Text 1"/>
          <p:cNvSpPr/>
          <p:nvPr/>
        </p:nvSpPr>
        <p:spPr>
          <a:xfrm>
            <a:off x="773093" y="624284"/>
            <a:ext cx="1321561" cy="1711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MODULE 5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924421"/>
            <a:ext cx="10868745" cy="5814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Summarization &amp; Action Item Extraction</a:t>
            </a:r>
            <a:endParaRPr lang="en-US" sz="3650" dirty="0"/>
          </a:p>
        </p:txBody>
      </p:sp>
      <p:sp>
        <p:nvSpPr>
          <p:cNvPr id="5" name="Shape 3"/>
          <p:cNvSpPr/>
          <p:nvPr/>
        </p:nvSpPr>
        <p:spPr>
          <a:xfrm>
            <a:off x="527533" y="1780580"/>
            <a:ext cx="5928172" cy="4508798"/>
          </a:xfrm>
          <a:prstGeom prst="roundRect">
            <a:avLst>
              <a:gd name="adj" fmla="val 619"/>
            </a:avLst>
          </a:prstGeom>
          <a:solidFill>
            <a:srgbClr val="F2F2F2"/>
          </a:solidFill>
        </p:spPr>
      </p:sp>
      <p:sp>
        <p:nvSpPr>
          <p:cNvPr id="6" name="Text 4"/>
          <p:cNvSpPr/>
          <p:nvPr/>
        </p:nvSpPr>
        <p:spPr>
          <a:xfrm>
            <a:off x="713563" y="1963738"/>
            <a:ext cx="5556111" cy="29071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Key Insights Extracted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15310" y="2524323"/>
            <a:ext cx="2061813" cy="29071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Executive Summary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15310" y="2998192"/>
            <a:ext cx="2061813" cy="4724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Conversation overview and opportunity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207762" y="2524323"/>
            <a:ext cx="2061912" cy="58142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Customer Pain Points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207762" y="3288903"/>
            <a:ext cx="2061912" cy="2362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Key challenges and problems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315310" y="3955355"/>
            <a:ext cx="2061813" cy="29071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Requirements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15310" y="4429224"/>
            <a:ext cx="2061813" cy="2362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Business and technical needs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207762" y="3955355"/>
            <a:ext cx="2061912" cy="29071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Customer Interests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207762" y="4429224"/>
            <a:ext cx="2061912" cy="2362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Products, features, solutions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315310" y="5095677"/>
            <a:ext cx="4954364" cy="29071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Important Discussion Points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15310" y="5569545"/>
            <a:ext cx="4954364" cy="2362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Core topics and context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647986" y="1780580"/>
            <a:ext cx="5022427" cy="4508798"/>
          </a:xfrm>
          <a:prstGeom prst="roundRect">
            <a:avLst>
              <a:gd name="adj" fmla="val 619"/>
            </a:avLst>
          </a:prstGeom>
          <a:solidFill>
            <a:srgbClr val="04318F"/>
          </a:solidFill>
        </p:spPr>
      </p:sp>
      <p:sp>
        <p:nvSpPr>
          <p:cNvPr id="18" name="Text 16"/>
          <p:cNvSpPr/>
          <p:nvPr/>
        </p:nvSpPr>
        <p:spPr>
          <a:xfrm>
            <a:off x="6834017" y="1963738"/>
            <a:ext cx="4650366" cy="29071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Action Items Generated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834017" y="2460427"/>
            <a:ext cx="4650366" cy="2851150"/>
          </a:xfrm>
          <a:prstGeom prst="roundRect">
            <a:avLst>
              <a:gd name="adj" fmla="val 979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34017" y="2938562"/>
            <a:ext cx="4650366" cy="11629"/>
          </a:xfrm>
          <a:prstGeom prst="rect">
            <a:avLst/>
          </a:prstGeom>
          <a:solidFill>
            <a:srgbClr val="FFFFFF">
              <a:alpha val="24000"/>
            </a:srgbClr>
          </a:solidFill>
        </p:spPr>
      </p:sp>
      <p:sp>
        <p:nvSpPr>
          <p:cNvPr id="21" name="Shape 19"/>
          <p:cNvSpPr/>
          <p:nvPr/>
        </p:nvSpPr>
        <p:spPr>
          <a:xfrm>
            <a:off x="6834017" y="3649762"/>
            <a:ext cx="4650366" cy="11629"/>
          </a:xfrm>
          <a:prstGeom prst="rect">
            <a:avLst/>
          </a:prstGeom>
          <a:solidFill>
            <a:srgbClr val="FFFFFF">
              <a:alpha val="24000"/>
            </a:srgbClr>
          </a:solidFill>
        </p:spPr>
      </p:sp>
      <p:sp>
        <p:nvSpPr>
          <p:cNvPr id="22" name="Shape 20"/>
          <p:cNvSpPr/>
          <p:nvPr/>
        </p:nvSpPr>
        <p:spPr>
          <a:xfrm>
            <a:off x="6834017" y="4360962"/>
            <a:ext cx="4650366" cy="11629"/>
          </a:xfrm>
          <a:prstGeom prst="rect">
            <a:avLst/>
          </a:prstGeom>
          <a:solidFill>
            <a:srgbClr val="FFFFFF">
              <a:alpha val="24000"/>
            </a:srgbClr>
          </a:solidFill>
        </p:spPr>
      </p:sp>
      <p:sp>
        <p:nvSpPr>
          <p:cNvPr id="23" name="Text 21"/>
          <p:cNvSpPr/>
          <p:nvPr/>
        </p:nvSpPr>
        <p:spPr>
          <a:xfrm>
            <a:off x="7027091" y="2582962"/>
            <a:ext cx="1783016" cy="2362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Action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572583" y="2582962"/>
            <a:ext cx="1783016" cy="2362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Owner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0118075" y="2582962"/>
            <a:ext cx="1783016" cy="2362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Timeline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027091" y="3057922"/>
            <a:ext cx="1173431" cy="4724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Send integration info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572583" y="3057922"/>
            <a:ext cx="1783016" cy="2362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Sales Rep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0118075" y="3057922"/>
            <a:ext cx="1173431" cy="4724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Before next meeting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027091" y="3769122"/>
            <a:ext cx="1173431" cy="4724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Share security info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572583" y="3769122"/>
            <a:ext cx="1783016" cy="2362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Sales Rep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0118075" y="3769122"/>
            <a:ext cx="1173431" cy="4724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Before next meeting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027091" y="4480322"/>
            <a:ext cx="1173431" cy="708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Schedule technical discussion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572583" y="4480322"/>
            <a:ext cx="1783016" cy="2362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Sales Rep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0118075" y="4480322"/>
            <a:ext cx="1783016" cy="2362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Next week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7113112" y="5682357"/>
            <a:ext cx="4980855" cy="2362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i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"It doesn't just summarize — it identifies next steps."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834017" y="5517555"/>
            <a:ext cx="25399" cy="565845"/>
          </a:xfrm>
          <a:prstGeom prst="roundRect">
            <a:avLst>
              <a:gd name="adj" fmla="val 50001"/>
            </a:avLst>
          </a:prstGeom>
          <a:solidFill>
            <a:srgbClr val="2150FE"/>
          </a:solidFill>
        </p:spPr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19765" y="109728"/>
            <a:ext cx="1143000" cy="70772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70309"/>
            <a:ext cx="875385" cy="264616"/>
          </a:xfrm>
          <a:prstGeom prst="roundRect">
            <a:avLst>
              <a:gd name="adj" fmla="val 7902"/>
            </a:avLst>
          </a:prstGeom>
          <a:solidFill>
            <a:srgbClr val="CCD7FF"/>
          </a:solidFill>
        </p:spPr>
      </p:sp>
      <p:sp>
        <p:nvSpPr>
          <p:cNvPr id="3" name="Text 1"/>
          <p:cNvSpPr/>
          <p:nvPr/>
        </p:nvSpPr>
        <p:spPr>
          <a:xfrm>
            <a:off x="765950" y="622498"/>
            <a:ext cx="1276020" cy="1602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MODULE 6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1475" y="899120"/>
            <a:ext cx="10868745" cy="5445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Secure Access &amp; Sales Dashboard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61475" y="1684536"/>
            <a:ext cx="11478330" cy="2677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Role-based login gives a real-time view of sales metrics.</a:t>
            </a:r>
            <a:endParaRPr lang="en-US" sz="13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24073" y="2133005"/>
            <a:ext cx="4943550" cy="270142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813448" y="3318263"/>
            <a:ext cx="1145464" cy="31169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Login / Authentication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714069" y="3292201"/>
            <a:ext cx="1145464" cy="31169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SalesGenie Dashboard</a:t>
            </a:r>
            <a:endParaRPr lang="en-US" sz="9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5015111"/>
            <a:ext cx="435559" cy="43557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61475" y="5651401"/>
            <a:ext cx="3489039" cy="27215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Lead Overview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661475" y="6019899"/>
            <a:ext cx="3489039" cy="2677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Leads, scores, and status.</a:t>
            </a:r>
            <a:endParaRPr lang="en-US" sz="13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51229" y="5015111"/>
            <a:ext cx="435559" cy="43557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351229" y="5651401"/>
            <a:ext cx="3489138" cy="27215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Pipeline Metrics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4351229" y="6019899"/>
            <a:ext cx="3489138" cy="2677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Stage tracking and progress.</a:t>
            </a:r>
            <a:endParaRPr lang="en-US" sz="13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41082" y="5015111"/>
            <a:ext cx="435559" cy="43557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041082" y="5651401"/>
            <a:ext cx="3489138" cy="27215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Recent Activities</a:t>
            </a:r>
            <a:endParaRPr lang="en-US" sz="1700" dirty="0"/>
          </a:p>
        </p:txBody>
      </p:sp>
      <p:sp>
        <p:nvSpPr>
          <p:cNvPr id="17" name="Text 11"/>
          <p:cNvSpPr/>
          <p:nvPr/>
        </p:nvSpPr>
        <p:spPr>
          <a:xfrm>
            <a:off x="8041082" y="6019899"/>
            <a:ext cx="3489138" cy="2677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Outreach and conversation updates.</a:t>
            </a:r>
            <a:endParaRPr lang="en-US" sz="1350" dirty="0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19765" y="109728"/>
            <a:ext cx="1143000" cy="70772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31130"/>
            <a:ext cx="949698" cy="287139"/>
          </a:xfrm>
          <a:prstGeom prst="roundRect">
            <a:avLst>
              <a:gd name="adj" fmla="val 7899"/>
            </a:avLst>
          </a:prstGeom>
          <a:solidFill>
            <a:srgbClr val="CCD7FF"/>
          </a:solidFill>
        </p:spPr>
      </p:sp>
      <p:sp>
        <p:nvSpPr>
          <p:cNvPr id="3" name="Text 1"/>
          <p:cNvSpPr/>
          <p:nvPr/>
        </p:nvSpPr>
        <p:spPr>
          <a:xfrm>
            <a:off x="774879" y="687784"/>
            <a:ext cx="1332474" cy="1738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MODULE 6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993874"/>
            <a:ext cx="10868745" cy="5906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Unified Sales Analytics &amp; End-to-End Workflow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2057003"/>
            <a:ext cx="4070744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Data Sources</a:t>
            </a:r>
            <a:endParaRPr lang="en-US" sz="18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564904"/>
            <a:ext cx="2035323" cy="7560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0482" y="3509963"/>
            <a:ext cx="1657309" cy="5905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Lead &amp; Company Data</a:t>
            </a:r>
            <a:endParaRPr lang="en-US" sz="18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6797" y="2564904"/>
            <a:ext cx="2035422" cy="75604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885804" y="3509963"/>
            <a:ext cx="1657408" cy="5905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Scoring &amp; Outreach</a:t>
            </a:r>
            <a:endParaRPr lang="en-US" sz="18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4289524"/>
            <a:ext cx="2035323" cy="75604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50482" y="5234583"/>
            <a:ext cx="1657309" cy="5905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Insights &amp; Conversations</a:t>
            </a:r>
            <a:endParaRPr lang="en-US" sz="18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6797" y="4289524"/>
            <a:ext cx="2035422" cy="75604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885804" y="5234583"/>
            <a:ext cx="1657408" cy="5905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Unified Dashboard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5199726" y="2057003"/>
            <a:ext cx="6336745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Key Metrics</a:t>
            </a:r>
            <a:endParaRPr lang="en-US" sz="1850" dirty="0"/>
          </a:p>
        </p:txBody>
      </p:sp>
      <p:sp>
        <p:nvSpPr>
          <p:cNvPr id="15" name="Shape 9"/>
          <p:cNvSpPr/>
          <p:nvPr/>
        </p:nvSpPr>
        <p:spPr>
          <a:xfrm>
            <a:off x="5199726" y="2564904"/>
            <a:ext cx="3073819" cy="724098"/>
          </a:xfrm>
          <a:prstGeom prst="roundRect">
            <a:avLst>
              <a:gd name="adj" fmla="val 3916"/>
            </a:avLst>
          </a:prstGeom>
          <a:solidFill>
            <a:srgbClr val="FFFFFF"/>
          </a:solidFill>
          <a:ln w="25399">
            <a:solidFill>
              <a:srgbClr val="D8D4D4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5414133" y="2779316"/>
            <a:ext cx="2645006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Leads &amp; Qualification</a:t>
            </a:r>
            <a:endParaRPr lang="en-US" sz="1850" dirty="0"/>
          </a:p>
        </p:txBody>
      </p:sp>
      <p:sp>
        <p:nvSpPr>
          <p:cNvPr id="17" name="Shape 11"/>
          <p:cNvSpPr/>
          <p:nvPr/>
        </p:nvSpPr>
        <p:spPr>
          <a:xfrm>
            <a:off x="8462552" y="2564904"/>
            <a:ext cx="3073918" cy="724098"/>
          </a:xfrm>
          <a:prstGeom prst="roundRect">
            <a:avLst>
              <a:gd name="adj" fmla="val 3916"/>
            </a:avLst>
          </a:prstGeom>
          <a:solidFill>
            <a:srgbClr val="FFFFFF"/>
          </a:solidFill>
          <a:ln w="25399">
            <a:solidFill>
              <a:srgbClr val="D8D4D4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8676959" y="2779316"/>
            <a:ext cx="2645106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Pipeline Stages</a:t>
            </a:r>
            <a:endParaRPr lang="en-US" sz="1850" dirty="0"/>
          </a:p>
        </p:txBody>
      </p:sp>
      <p:sp>
        <p:nvSpPr>
          <p:cNvPr id="19" name="Shape 13"/>
          <p:cNvSpPr/>
          <p:nvPr/>
        </p:nvSpPr>
        <p:spPr>
          <a:xfrm>
            <a:off x="5199726" y="3478014"/>
            <a:ext cx="3073819" cy="724098"/>
          </a:xfrm>
          <a:prstGeom prst="roundRect">
            <a:avLst>
              <a:gd name="adj" fmla="val 3916"/>
            </a:avLst>
          </a:prstGeom>
          <a:solidFill>
            <a:srgbClr val="FFFFFF"/>
          </a:solidFill>
          <a:ln w="25399">
            <a:solidFill>
              <a:srgbClr val="D8D4D4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5414133" y="3692426"/>
            <a:ext cx="2645006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Activity &amp; Engagement</a:t>
            </a:r>
            <a:endParaRPr lang="en-US" sz="1850" dirty="0"/>
          </a:p>
        </p:txBody>
      </p:sp>
      <p:sp>
        <p:nvSpPr>
          <p:cNvPr id="21" name="Shape 15"/>
          <p:cNvSpPr/>
          <p:nvPr/>
        </p:nvSpPr>
        <p:spPr>
          <a:xfrm>
            <a:off x="8462552" y="3478014"/>
            <a:ext cx="3073918" cy="724098"/>
          </a:xfrm>
          <a:prstGeom prst="roundRect">
            <a:avLst>
              <a:gd name="adj" fmla="val 3916"/>
            </a:avLst>
          </a:prstGeom>
          <a:solidFill>
            <a:srgbClr val="FFFFFF"/>
          </a:solidFill>
          <a:ln w="25399">
            <a:solidFill>
              <a:srgbClr val="D8D4D4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8676959" y="3692426"/>
            <a:ext cx="2645106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AI Insights</a:t>
            </a:r>
            <a:endParaRPr lang="en-US" sz="1850" dirty="0"/>
          </a:p>
        </p:txBody>
      </p:sp>
      <p:sp>
        <p:nvSpPr>
          <p:cNvPr id="23" name="Text 17"/>
          <p:cNvSpPr/>
          <p:nvPr/>
        </p:nvSpPr>
        <p:spPr>
          <a:xfrm>
            <a:off x="5199726" y="4414738"/>
            <a:ext cx="6336745" cy="9072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5199726" y="5511006"/>
            <a:ext cx="6336745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850" dirty="0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19765" y="109728"/>
            <a:ext cx="1143000" cy="70772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85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1185525" cy="32004"/>
          </a:xfrm>
          <a:prstGeom prst="rect">
            <a:avLst/>
          </a:prstGeom>
          <a:solidFill>
            <a:srgbClr val="285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69135" y="2672715"/>
            <a:ext cx="7926070" cy="151193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>
              <a:defRPr sz="4400" b="1">
                <a:solidFill>
                  <a:srgbClr val="2852E6"/>
                </a:solidFill>
                <a:latin typeface="Aptos Display"/>
              </a:defRPr>
            </a:pPr>
            <a:r>
              <a:rPr sz="6600"/>
              <a:t>Thank You</a:t>
            </a:r>
            <a:endParaRPr sz="6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8774</Words>
  <Application>WPS Presentation</Application>
  <PresentationFormat>On-screen Show (16:9)</PresentationFormat>
  <Paragraphs>561</Paragraphs>
  <Slides>16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43" baseType="lpstr">
      <vt:lpstr>Arial</vt:lpstr>
      <vt:lpstr>SimSun</vt:lpstr>
      <vt:lpstr>Wingdings</vt:lpstr>
      <vt:lpstr>Book Antiqua</vt:lpstr>
      <vt:lpstr>Heebo</vt:lpstr>
      <vt:lpstr>Heebo</vt:lpstr>
      <vt:lpstr>Heebo</vt:lpstr>
      <vt:lpstr>Crimson Pro SemiBold</vt:lpstr>
      <vt:lpstr>Crimson Pro SemiBold</vt:lpstr>
      <vt:lpstr>Crimson Pro SemiBold</vt:lpstr>
      <vt:lpstr>Crimson Pro Light</vt:lpstr>
      <vt:lpstr>Segoe Print</vt:lpstr>
      <vt:lpstr>Crimson Pro Light</vt:lpstr>
      <vt:lpstr>Crimson Pro Light</vt:lpstr>
      <vt:lpstr>Heebo Bold</vt:lpstr>
      <vt:lpstr>Heebo Bold</vt:lpstr>
      <vt:lpstr>Heebo Bold</vt:lpstr>
      <vt:lpstr>Twemoji Mozilla</vt:lpstr>
      <vt:lpstr>Twemoji Mozilla</vt:lpstr>
      <vt:lpstr>Twemoji Mozilla</vt:lpstr>
      <vt:lpstr>Aptos Display</vt:lpstr>
      <vt:lpstr>Segoe UI Variable Display</vt:lpstr>
      <vt:lpstr>Calibri</vt:lpstr>
      <vt:lpstr>Microsoft YaHei</vt:lpstr>
      <vt:lpstr>Arial Unicode MS</vt:lpstr>
      <vt:lpstr>MingLiU-ExtB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jhans</cp:lastModifiedBy>
  <cp:revision>6</cp:revision>
  <dcterms:created xsi:type="dcterms:W3CDTF">2026-08-21T03:35:00Z</dcterms:created>
  <dcterms:modified xsi:type="dcterms:W3CDTF">2026-08-21T14:47:05Z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4965035C92CA426F862F2717361B02DD_12</vt:lpwstr>
  </property>
</Properties>
</file>